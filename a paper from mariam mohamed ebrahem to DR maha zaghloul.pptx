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ar-EG"/>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4" d="100"/>
          <a:sy n="74" d="100"/>
        </p:scale>
        <p:origin x="1042"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r">
              <a:defRPr sz="1200"/>
            </a:lvl1pPr>
          </a:lstStyle>
          <a:p>
            <a:endParaRPr lang="ar-EG"/>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l">
              <a:defRPr sz="1200"/>
            </a:lvl1pPr>
          </a:lstStyle>
          <a:p>
            <a:fld id="{3A3F3EE8-26A5-4797-9762-042F09055363}" type="datetimeFigureOut">
              <a:rPr lang="ar-EG" smtClean="0"/>
              <a:t>06/05/1448</a:t>
            </a:fld>
            <a:endParaRPr lang="ar-EG"/>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ar-EG"/>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ar-E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r">
              <a:defRPr sz="1200"/>
            </a:lvl1pPr>
          </a:lstStyle>
          <a:p>
            <a:endParaRPr lang="ar-EG"/>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l">
              <a:defRPr sz="1200"/>
            </a:lvl1pPr>
          </a:lstStyle>
          <a:p>
            <a:fld id="{189D8DD3-DCA0-42AA-8545-F930F2B1C0CD}" type="slidenum">
              <a:rPr lang="ar-EG" smtClean="0"/>
              <a:t>‹#›</a:t>
            </a:fld>
            <a:endParaRPr lang="ar-EG"/>
          </a:p>
        </p:txBody>
      </p:sp>
    </p:spTree>
    <p:extLst>
      <p:ext uri="{BB962C8B-B14F-4D97-AF65-F5344CB8AC3E}">
        <p14:creationId xmlns:p14="http://schemas.microsoft.com/office/powerpoint/2010/main" val="2501111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ar-EG" dirty="0"/>
          </a:p>
        </p:txBody>
      </p:sp>
      <p:sp>
        <p:nvSpPr>
          <p:cNvPr id="4" name="Slide Number Placeholder 3"/>
          <p:cNvSpPr>
            <a:spLocks noGrp="1"/>
          </p:cNvSpPr>
          <p:nvPr>
            <p:ph type="sldNum" sz="quarter" idx="5"/>
          </p:nvPr>
        </p:nvSpPr>
        <p:spPr/>
        <p:txBody>
          <a:bodyPr/>
          <a:lstStyle/>
          <a:p>
            <a:fld id="{189D8DD3-DCA0-42AA-8545-F930F2B1C0CD}" type="slidenum">
              <a:rPr lang="ar-EG" smtClean="0"/>
              <a:t>1</a:t>
            </a:fld>
            <a:endParaRPr lang="ar-EG"/>
          </a:p>
        </p:txBody>
      </p:sp>
    </p:spTree>
    <p:extLst>
      <p:ext uri="{BB962C8B-B14F-4D97-AF65-F5344CB8AC3E}">
        <p14:creationId xmlns:p14="http://schemas.microsoft.com/office/powerpoint/2010/main" val="24264006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7EB8EA-BB9C-4BD0-E0F8-4DC8E102EE05}"/>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ar-EG"/>
          </a:p>
        </p:txBody>
      </p:sp>
      <p:sp>
        <p:nvSpPr>
          <p:cNvPr id="3" name="Subtitle 2">
            <a:extLst>
              <a:ext uri="{FF2B5EF4-FFF2-40B4-BE49-F238E27FC236}">
                <a16:creationId xmlns:a16="http://schemas.microsoft.com/office/drawing/2014/main" id="{64F62C6D-5751-F0CB-3F7E-14F50303FF2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ar-EG"/>
          </a:p>
        </p:txBody>
      </p:sp>
      <p:sp>
        <p:nvSpPr>
          <p:cNvPr id="4" name="Date Placeholder 3">
            <a:extLst>
              <a:ext uri="{FF2B5EF4-FFF2-40B4-BE49-F238E27FC236}">
                <a16:creationId xmlns:a16="http://schemas.microsoft.com/office/drawing/2014/main" id="{EE60A3BA-E5B3-DB1A-DAD0-B5191C4B6643}"/>
              </a:ext>
            </a:extLst>
          </p:cNvPr>
          <p:cNvSpPr>
            <a:spLocks noGrp="1"/>
          </p:cNvSpPr>
          <p:nvPr>
            <p:ph type="dt" sz="half" idx="10"/>
          </p:nvPr>
        </p:nvSpPr>
        <p:spPr/>
        <p:txBody>
          <a:bodyPr/>
          <a:lstStyle/>
          <a:p>
            <a:fld id="{4192A140-CC7B-49A3-BA54-C6F11DD7D997}" type="datetimeFigureOut">
              <a:rPr lang="ar-EG" smtClean="0"/>
              <a:t>06/05/1448</a:t>
            </a:fld>
            <a:endParaRPr lang="ar-EG"/>
          </a:p>
        </p:txBody>
      </p:sp>
      <p:sp>
        <p:nvSpPr>
          <p:cNvPr id="5" name="Footer Placeholder 4">
            <a:extLst>
              <a:ext uri="{FF2B5EF4-FFF2-40B4-BE49-F238E27FC236}">
                <a16:creationId xmlns:a16="http://schemas.microsoft.com/office/drawing/2014/main" id="{777B265B-0727-A26E-A1D3-ECC9FA459BEA}"/>
              </a:ext>
            </a:extLst>
          </p:cNvPr>
          <p:cNvSpPr>
            <a:spLocks noGrp="1"/>
          </p:cNvSpPr>
          <p:nvPr>
            <p:ph type="ftr" sz="quarter" idx="11"/>
          </p:nvPr>
        </p:nvSpPr>
        <p:spPr/>
        <p:txBody>
          <a:bodyPr/>
          <a:lstStyle/>
          <a:p>
            <a:endParaRPr lang="ar-EG"/>
          </a:p>
        </p:txBody>
      </p:sp>
      <p:sp>
        <p:nvSpPr>
          <p:cNvPr id="6" name="Slide Number Placeholder 5">
            <a:extLst>
              <a:ext uri="{FF2B5EF4-FFF2-40B4-BE49-F238E27FC236}">
                <a16:creationId xmlns:a16="http://schemas.microsoft.com/office/drawing/2014/main" id="{9282505A-6051-152F-0ABC-FFC2AFDC1938}"/>
              </a:ext>
            </a:extLst>
          </p:cNvPr>
          <p:cNvSpPr>
            <a:spLocks noGrp="1"/>
          </p:cNvSpPr>
          <p:nvPr>
            <p:ph type="sldNum" sz="quarter" idx="12"/>
          </p:nvPr>
        </p:nvSpPr>
        <p:spPr/>
        <p:txBody>
          <a:bodyPr/>
          <a:lstStyle/>
          <a:p>
            <a:fld id="{FA884D49-F500-4BCC-932F-4966A4C83DF4}" type="slidenum">
              <a:rPr lang="ar-EG" smtClean="0"/>
              <a:t>‹#›</a:t>
            </a:fld>
            <a:endParaRPr lang="ar-EG"/>
          </a:p>
        </p:txBody>
      </p:sp>
    </p:spTree>
    <p:extLst>
      <p:ext uri="{BB962C8B-B14F-4D97-AF65-F5344CB8AC3E}">
        <p14:creationId xmlns:p14="http://schemas.microsoft.com/office/powerpoint/2010/main" val="4324280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8319E-8EF9-0CEC-133F-A9853AA8CFD1}"/>
              </a:ext>
            </a:extLst>
          </p:cNvPr>
          <p:cNvSpPr>
            <a:spLocks noGrp="1"/>
          </p:cNvSpPr>
          <p:nvPr>
            <p:ph type="title"/>
          </p:nvPr>
        </p:nvSpPr>
        <p:spPr/>
        <p:txBody>
          <a:bodyPr/>
          <a:lstStyle/>
          <a:p>
            <a:r>
              <a:rPr lang="en-GB"/>
              <a:t>Click to edit Master title style</a:t>
            </a:r>
            <a:endParaRPr lang="ar-EG"/>
          </a:p>
        </p:txBody>
      </p:sp>
      <p:sp>
        <p:nvSpPr>
          <p:cNvPr id="3" name="Content Placeholder 2">
            <a:extLst>
              <a:ext uri="{FF2B5EF4-FFF2-40B4-BE49-F238E27FC236}">
                <a16:creationId xmlns:a16="http://schemas.microsoft.com/office/drawing/2014/main" id="{81FDE2F5-7D12-A308-2D00-0B68A20DBA04}"/>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ar-EG"/>
          </a:p>
        </p:txBody>
      </p:sp>
      <p:sp>
        <p:nvSpPr>
          <p:cNvPr id="4" name="Date Placeholder 3">
            <a:extLst>
              <a:ext uri="{FF2B5EF4-FFF2-40B4-BE49-F238E27FC236}">
                <a16:creationId xmlns:a16="http://schemas.microsoft.com/office/drawing/2014/main" id="{B82F5D00-B2FB-3835-032C-4CF140438ED5}"/>
              </a:ext>
            </a:extLst>
          </p:cNvPr>
          <p:cNvSpPr>
            <a:spLocks noGrp="1"/>
          </p:cNvSpPr>
          <p:nvPr>
            <p:ph type="dt" sz="half" idx="10"/>
          </p:nvPr>
        </p:nvSpPr>
        <p:spPr/>
        <p:txBody>
          <a:bodyPr/>
          <a:lstStyle/>
          <a:p>
            <a:fld id="{4192A140-CC7B-49A3-BA54-C6F11DD7D997}" type="datetimeFigureOut">
              <a:rPr lang="ar-EG" smtClean="0"/>
              <a:t>06/05/1448</a:t>
            </a:fld>
            <a:endParaRPr lang="ar-EG"/>
          </a:p>
        </p:txBody>
      </p:sp>
      <p:sp>
        <p:nvSpPr>
          <p:cNvPr id="5" name="Footer Placeholder 4">
            <a:extLst>
              <a:ext uri="{FF2B5EF4-FFF2-40B4-BE49-F238E27FC236}">
                <a16:creationId xmlns:a16="http://schemas.microsoft.com/office/drawing/2014/main" id="{5B9D1F31-04F3-5E83-50D9-F03F460FA887}"/>
              </a:ext>
            </a:extLst>
          </p:cNvPr>
          <p:cNvSpPr>
            <a:spLocks noGrp="1"/>
          </p:cNvSpPr>
          <p:nvPr>
            <p:ph type="ftr" sz="quarter" idx="11"/>
          </p:nvPr>
        </p:nvSpPr>
        <p:spPr/>
        <p:txBody>
          <a:bodyPr/>
          <a:lstStyle/>
          <a:p>
            <a:endParaRPr lang="ar-EG"/>
          </a:p>
        </p:txBody>
      </p:sp>
      <p:sp>
        <p:nvSpPr>
          <p:cNvPr id="6" name="Slide Number Placeholder 5">
            <a:extLst>
              <a:ext uri="{FF2B5EF4-FFF2-40B4-BE49-F238E27FC236}">
                <a16:creationId xmlns:a16="http://schemas.microsoft.com/office/drawing/2014/main" id="{AA4DF6C2-210B-49A6-CF37-E440D30A44C2}"/>
              </a:ext>
            </a:extLst>
          </p:cNvPr>
          <p:cNvSpPr>
            <a:spLocks noGrp="1"/>
          </p:cNvSpPr>
          <p:nvPr>
            <p:ph type="sldNum" sz="quarter" idx="12"/>
          </p:nvPr>
        </p:nvSpPr>
        <p:spPr/>
        <p:txBody>
          <a:bodyPr/>
          <a:lstStyle/>
          <a:p>
            <a:fld id="{FA884D49-F500-4BCC-932F-4966A4C83DF4}" type="slidenum">
              <a:rPr lang="ar-EG" smtClean="0"/>
              <a:t>‹#›</a:t>
            </a:fld>
            <a:endParaRPr lang="ar-EG"/>
          </a:p>
        </p:txBody>
      </p:sp>
    </p:spTree>
    <p:extLst>
      <p:ext uri="{BB962C8B-B14F-4D97-AF65-F5344CB8AC3E}">
        <p14:creationId xmlns:p14="http://schemas.microsoft.com/office/powerpoint/2010/main" val="16727107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6632F3-9D70-6473-A641-384F0060ECA6}"/>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ar-EG"/>
          </a:p>
        </p:txBody>
      </p:sp>
      <p:sp>
        <p:nvSpPr>
          <p:cNvPr id="3" name="Text Placeholder 2">
            <a:extLst>
              <a:ext uri="{FF2B5EF4-FFF2-40B4-BE49-F238E27FC236}">
                <a16:creationId xmlns:a16="http://schemas.microsoft.com/office/drawing/2014/main" id="{32473195-24A3-2C94-A1CC-FF4DB6C3ECC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F0BAA557-7FA5-2D7E-DB12-F4707C31F35F}"/>
              </a:ext>
            </a:extLst>
          </p:cNvPr>
          <p:cNvSpPr>
            <a:spLocks noGrp="1"/>
          </p:cNvSpPr>
          <p:nvPr>
            <p:ph type="dt" sz="half" idx="10"/>
          </p:nvPr>
        </p:nvSpPr>
        <p:spPr/>
        <p:txBody>
          <a:bodyPr/>
          <a:lstStyle/>
          <a:p>
            <a:fld id="{4192A140-CC7B-49A3-BA54-C6F11DD7D997}" type="datetimeFigureOut">
              <a:rPr lang="ar-EG" smtClean="0"/>
              <a:t>06/05/1448</a:t>
            </a:fld>
            <a:endParaRPr lang="ar-EG"/>
          </a:p>
        </p:txBody>
      </p:sp>
      <p:sp>
        <p:nvSpPr>
          <p:cNvPr id="5" name="Footer Placeholder 4">
            <a:extLst>
              <a:ext uri="{FF2B5EF4-FFF2-40B4-BE49-F238E27FC236}">
                <a16:creationId xmlns:a16="http://schemas.microsoft.com/office/drawing/2014/main" id="{45BD99BB-F15D-66E8-2AFD-B4C57F7D394C}"/>
              </a:ext>
            </a:extLst>
          </p:cNvPr>
          <p:cNvSpPr>
            <a:spLocks noGrp="1"/>
          </p:cNvSpPr>
          <p:nvPr>
            <p:ph type="ftr" sz="quarter" idx="11"/>
          </p:nvPr>
        </p:nvSpPr>
        <p:spPr/>
        <p:txBody>
          <a:bodyPr/>
          <a:lstStyle/>
          <a:p>
            <a:endParaRPr lang="ar-EG"/>
          </a:p>
        </p:txBody>
      </p:sp>
      <p:sp>
        <p:nvSpPr>
          <p:cNvPr id="6" name="Slide Number Placeholder 5">
            <a:extLst>
              <a:ext uri="{FF2B5EF4-FFF2-40B4-BE49-F238E27FC236}">
                <a16:creationId xmlns:a16="http://schemas.microsoft.com/office/drawing/2014/main" id="{48D5255E-537F-7E4D-F5D7-A96A3C702538}"/>
              </a:ext>
            </a:extLst>
          </p:cNvPr>
          <p:cNvSpPr>
            <a:spLocks noGrp="1"/>
          </p:cNvSpPr>
          <p:nvPr>
            <p:ph type="sldNum" sz="quarter" idx="12"/>
          </p:nvPr>
        </p:nvSpPr>
        <p:spPr/>
        <p:txBody>
          <a:bodyPr/>
          <a:lstStyle/>
          <a:p>
            <a:fld id="{FA884D49-F500-4BCC-932F-4966A4C83DF4}" type="slidenum">
              <a:rPr lang="ar-EG" smtClean="0"/>
              <a:t>‹#›</a:t>
            </a:fld>
            <a:endParaRPr lang="ar-EG"/>
          </a:p>
        </p:txBody>
      </p:sp>
    </p:spTree>
    <p:extLst>
      <p:ext uri="{BB962C8B-B14F-4D97-AF65-F5344CB8AC3E}">
        <p14:creationId xmlns:p14="http://schemas.microsoft.com/office/powerpoint/2010/main" val="32182642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D581D6-5E8B-436B-EB7F-BF7CD772E51F}"/>
              </a:ext>
            </a:extLst>
          </p:cNvPr>
          <p:cNvSpPr>
            <a:spLocks noGrp="1"/>
          </p:cNvSpPr>
          <p:nvPr>
            <p:ph type="title"/>
          </p:nvPr>
        </p:nvSpPr>
        <p:spPr/>
        <p:txBody>
          <a:bodyPr/>
          <a:lstStyle/>
          <a:p>
            <a:r>
              <a:rPr lang="en-GB"/>
              <a:t>Click to edit Master title style</a:t>
            </a:r>
            <a:endParaRPr lang="ar-EG"/>
          </a:p>
        </p:txBody>
      </p:sp>
      <p:sp>
        <p:nvSpPr>
          <p:cNvPr id="3" name="Content Placeholder 2">
            <a:extLst>
              <a:ext uri="{FF2B5EF4-FFF2-40B4-BE49-F238E27FC236}">
                <a16:creationId xmlns:a16="http://schemas.microsoft.com/office/drawing/2014/main" id="{F63BD1B3-0E07-EB73-6BEC-5793B480A549}"/>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ar-EG"/>
          </a:p>
        </p:txBody>
      </p:sp>
      <p:sp>
        <p:nvSpPr>
          <p:cNvPr id="4" name="Content Placeholder 3">
            <a:extLst>
              <a:ext uri="{FF2B5EF4-FFF2-40B4-BE49-F238E27FC236}">
                <a16:creationId xmlns:a16="http://schemas.microsoft.com/office/drawing/2014/main" id="{BA00B958-7E39-20AC-4BDA-6097A57F8D2B}"/>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ar-EG"/>
          </a:p>
        </p:txBody>
      </p:sp>
      <p:sp>
        <p:nvSpPr>
          <p:cNvPr id="5" name="Date Placeholder 4">
            <a:extLst>
              <a:ext uri="{FF2B5EF4-FFF2-40B4-BE49-F238E27FC236}">
                <a16:creationId xmlns:a16="http://schemas.microsoft.com/office/drawing/2014/main" id="{AA43E871-917F-CBED-284F-C9B642EF04D8}"/>
              </a:ext>
            </a:extLst>
          </p:cNvPr>
          <p:cNvSpPr>
            <a:spLocks noGrp="1"/>
          </p:cNvSpPr>
          <p:nvPr>
            <p:ph type="dt" sz="half" idx="10"/>
          </p:nvPr>
        </p:nvSpPr>
        <p:spPr/>
        <p:txBody>
          <a:bodyPr/>
          <a:lstStyle/>
          <a:p>
            <a:fld id="{4192A140-CC7B-49A3-BA54-C6F11DD7D997}" type="datetimeFigureOut">
              <a:rPr lang="ar-EG" smtClean="0"/>
              <a:t>06/05/1448</a:t>
            </a:fld>
            <a:endParaRPr lang="ar-EG"/>
          </a:p>
        </p:txBody>
      </p:sp>
      <p:sp>
        <p:nvSpPr>
          <p:cNvPr id="6" name="Footer Placeholder 5">
            <a:extLst>
              <a:ext uri="{FF2B5EF4-FFF2-40B4-BE49-F238E27FC236}">
                <a16:creationId xmlns:a16="http://schemas.microsoft.com/office/drawing/2014/main" id="{D7DF9FE6-AEE8-8158-6989-E1851A5CD427}"/>
              </a:ext>
            </a:extLst>
          </p:cNvPr>
          <p:cNvSpPr>
            <a:spLocks noGrp="1"/>
          </p:cNvSpPr>
          <p:nvPr>
            <p:ph type="ftr" sz="quarter" idx="11"/>
          </p:nvPr>
        </p:nvSpPr>
        <p:spPr/>
        <p:txBody>
          <a:bodyPr/>
          <a:lstStyle/>
          <a:p>
            <a:endParaRPr lang="ar-EG"/>
          </a:p>
        </p:txBody>
      </p:sp>
      <p:sp>
        <p:nvSpPr>
          <p:cNvPr id="7" name="Slide Number Placeholder 6">
            <a:extLst>
              <a:ext uri="{FF2B5EF4-FFF2-40B4-BE49-F238E27FC236}">
                <a16:creationId xmlns:a16="http://schemas.microsoft.com/office/drawing/2014/main" id="{024AC79B-31D8-D475-935A-FC60B5850A96}"/>
              </a:ext>
            </a:extLst>
          </p:cNvPr>
          <p:cNvSpPr>
            <a:spLocks noGrp="1"/>
          </p:cNvSpPr>
          <p:nvPr>
            <p:ph type="sldNum" sz="quarter" idx="12"/>
          </p:nvPr>
        </p:nvSpPr>
        <p:spPr/>
        <p:txBody>
          <a:bodyPr/>
          <a:lstStyle/>
          <a:p>
            <a:fld id="{FA884D49-F500-4BCC-932F-4966A4C83DF4}" type="slidenum">
              <a:rPr lang="ar-EG" smtClean="0"/>
              <a:t>‹#›</a:t>
            </a:fld>
            <a:endParaRPr lang="ar-EG"/>
          </a:p>
        </p:txBody>
      </p:sp>
    </p:spTree>
    <p:extLst>
      <p:ext uri="{BB962C8B-B14F-4D97-AF65-F5344CB8AC3E}">
        <p14:creationId xmlns:p14="http://schemas.microsoft.com/office/powerpoint/2010/main" val="22952342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D7ED83-E0A4-C9BF-E1EB-02EB1F6E592B}"/>
              </a:ext>
            </a:extLst>
          </p:cNvPr>
          <p:cNvSpPr>
            <a:spLocks noGrp="1"/>
          </p:cNvSpPr>
          <p:nvPr>
            <p:ph type="title"/>
          </p:nvPr>
        </p:nvSpPr>
        <p:spPr>
          <a:xfrm>
            <a:off x="839788" y="365125"/>
            <a:ext cx="10515600" cy="1325563"/>
          </a:xfrm>
        </p:spPr>
        <p:txBody>
          <a:bodyPr/>
          <a:lstStyle/>
          <a:p>
            <a:r>
              <a:rPr lang="en-GB"/>
              <a:t>Click to edit Master title style</a:t>
            </a:r>
            <a:endParaRPr lang="ar-EG"/>
          </a:p>
        </p:txBody>
      </p:sp>
      <p:sp>
        <p:nvSpPr>
          <p:cNvPr id="3" name="Text Placeholder 2">
            <a:extLst>
              <a:ext uri="{FF2B5EF4-FFF2-40B4-BE49-F238E27FC236}">
                <a16:creationId xmlns:a16="http://schemas.microsoft.com/office/drawing/2014/main" id="{38E33B1F-CD06-2436-F704-ACC05586503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63FD7D54-22AB-F7DC-163C-E5F09D3A5022}"/>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ar-EG"/>
          </a:p>
        </p:txBody>
      </p:sp>
      <p:sp>
        <p:nvSpPr>
          <p:cNvPr id="5" name="Text Placeholder 4">
            <a:extLst>
              <a:ext uri="{FF2B5EF4-FFF2-40B4-BE49-F238E27FC236}">
                <a16:creationId xmlns:a16="http://schemas.microsoft.com/office/drawing/2014/main" id="{BD498141-F2C4-816A-77FD-514487C875D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F2ACF176-B0B0-3CE2-A620-03AEBFF7B8F5}"/>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ar-EG"/>
          </a:p>
        </p:txBody>
      </p:sp>
      <p:sp>
        <p:nvSpPr>
          <p:cNvPr id="7" name="Date Placeholder 6">
            <a:extLst>
              <a:ext uri="{FF2B5EF4-FFF2-40B4-BE49-F238E27FC236}">
                <a16:creationId xmlns:a16="http://schemas.microsoft.com/office/drawing/2014/main" id="{ED7B5911-4112-4917-770A-0FC423E6D85D}"/>
              </a:ext>
            </a:extLst>
          </p:cNvPr>
          <p:cNvSpPr>
            <a:spLocks noGrp="1"/>
          </p:cNvSpPr>
          <p:nvPr>
            <p:ph type="dt" sz="half" idx="10"/>
          </p:nvPr>
        </p:nvSpPr>
        <p:spPr/>
        <p:txBody>
          <a:bodyPr/>
          <a:lstStyle/>
          <a:p>
            <a:fld id="{4192A140-CC7B-49A3-BA54-C6F11DD7D997}" type="datetimeFigureOut">
              <a:rPr lang="ar-EG" smtClean="0"/>
              <a:t>06/05/1448</a:t>
            </a:fld>
            <a:endParaRPr lang="ar-EG"/>
          </a:p>
        </p:txBody>
      </p:sp>
      <p:sp>
        <p:nvSpPr>
          <p:cNvPr id="8" name="Footer Placeholder 7">
            <a:extLst>
              <a:ext uri="{FF2B5EF4-FFF2-40B4-BE49-F238E27FC236}">
                <a16:creationId xmlns:a16="http://schemas.microsoft.com/office/drawing/2014/main" id="{0B36ABC8-1E8E-FB2D-A4D7-6612F20C9361}"/>
              </a:ext>
            </a:extLst>
          </p:cNvPr>
          <p:cNvSpPr>
            <a:spLocks noGrp="1"/>
          </p:cNvSpPr>
          <p:nvPr>
            <p:ph type="ftr" sz="quarter" idx="11"/>
          </p:nvPr>
        </p:nvSpPr>
        <p:spPr/>
        <p:txBody>
          <a:bodyPr/>
          <a:lstStyle/>
          <a:p>
            <a:endParaRPr lang="ar-EG"/>
          </a:p>
        </p:txBody>
      </p:sp>
      <p:sp>
        <p:nvSpPr>
          <p:cNvPr id="9" name="Slide Number Placeholder 8">
            <a:extLst>
              <a:ext uri="{FF2B5EF4-FFF2-40B4-BE49-F238E27FC236}">
                <a16:creationId xmlns:a16="http://schemas.microsoft.com/office/drawing/2014/main" id="{453A6329-6BBC-DD3F-DDDC-C94D1A80BD42}"/>
              </a:ext>
            </a:extLst>
          </p:cNvPr>
          <p:cNvSpPr>
            <a:spLocks noGrp="1"/>
          </p:cNvSpPr>
          <p:nvPr>
            <p:ph type="sldNum" sz="quarter" idx="12"/>
          </p:nvPr>
        </p:nvSpPr>
        <p:spPr/>
        <p:txBody>
          <a:bodyPr/>
          <a:lstStyle/>
          <a:p>
            <a:fld id="{FA884D49-F500-4BCC-932F-4966A4C83DF4}" type="slidenum">
              <a:rPr lang="ar-EG" smtClean="0"/>
              <a:t>‹#›</a:t>
            </a:fld>
            <a:endParaRPr lang="ar-EG"/>
          </a:p>
        </p:txBody>
      </p:sp>
    </p:spTree>
    <p:extLst>
      <p:ext uri="{BB962C8B-B14F-4D97-AF65-F5344CB8AC3E}">
        <p14:creationId xmlns:p14="http://schemas.microsoft.com/office/powerpoint/2010/main" val="9645384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77BE98-D7D8-D122-2C6B-78F978796F1F}"/>
              </a:ext>
            </a:extLst>
          </p:cNvPr>
          <p:cNvSpPr>
            <a:spLocks noGrp="1"/>
          </p:cNvSpPr>
          <p:nvPr>
            <p:ph type="title"/>
          </p:nvPr>
        </p:nvSpPr>
        <p:spPr/>
        <p:txBody>
          <a:bodyPr/>
          <a:lstStyle/>
          <a:p>
            <a:r>
              <a:rPr lang="en-GB"/>
              <a:t>Click to edit Master title style</a:t>
            </a:r>
            <a:endParaRPr lang="ar-EG"/>
          </a:p>
        </p:txBody>
      </p:sp>
      <p:sp>
        <p:nvSpPr>
          <p:cNvPr id="3" name="Date Placeholder 2">
            <a:extLst>
              <a:ext uri="{FF2B5EF4-FFF2-40B4-BE49-F238E27FC236}">
                <a16:creationId xmlns:a16="http://schemas.microsoft.com/office/drawing/2014/main" id="{E1F75ECA-18DE-6FFC-0AF3-8591C7F42155}"/>
              </a:ext>
            </a:extLst>
          </p:cNvPr>
          <p:cNvSpPr>
            <a:spLocks noGrp="1"/>
          </p:cNvSpPr>
          <p:nvPr>
            <p:ph type="dt" sz="half" idx="10"/>
          </p:nvPr>
        </p:nvSpPr>
        <p:spPr/>
        <p:txBody>
          <a:bodyPr/>
          <a:lstStyle/>
          <a:p>
            <a:fld id="{4192A140-CC7B-49A3-BA54-C6F11DD7D997}" type="datetimeFigureOut">
              <a:rPr lang="ar-EG" smtClean="0"/>
              <a:t>06/05/1448</a:t>
            </a:fld>
            <a:endParaRPr lang="ar-EG"/>
          </a:p>
        </p:txBody>
      </p:sp>
      <p:sp>
        <p:nvSpPr>
          <p:cNvPr id="4" name="Footer Placeholder 3">
            <a:extLst>
              <a:ext uri="{FF2B5EF4-FFF2-40B4-BE49-F238E27FC236}">
                <a16:creationId xmlns:a16="http://schemas.microsoft.com/office/drawing/2014/main" id="{D13CB317-AE89-AD28-CCEF-7B06571A10D5}"/>
              </a:ext>
            </a:extLst>
          </p:cNvPr>
          <p:cNvSpPr>
            <a:spLocks noGrp="1"/>
          </p:cNvSpPr>
          <p:nvPr>
            <p:ph type="ftr" sz="quarter" idx="11"/>
          </p:nvPr>
        </p:nvSpPr>
        <p:spPr/>
        <p:txBody>
          <a:bodyPr/>
          <a:lstStyle/>
          <a:p>
            <a:endParaRPr lang="ar-EG"/>
          </a:p>
        </p:txBody>
      </p:sp>
      <p:sp>
        <p:nvSpPr>
          <p:cNvPr id="5" name="Slide Number Placeholder 4">
            <a:extLst>
              <a:ext uri="{FF2B5EF4-FFF2-40B4-BE49-F238E27FC236}">
                <a16:creationId xmlns:a16="http://schemas.microsoft.com/office/drawing/2014/main" id="{4BEFA49D-0B68-29A2-E579-7CC8F9810CA9}"/>
              </a:ext>
            </a:extLst>
          </p:cNvPr>
          <p:cNvSpPr>
            <a:spLocks noGrp="1"/>
          </p:cNvSpPr>
          <p:nvPr>
            <p:ph type="sldNum" sz="quarter" idx="12"/>
          </p:nvPr>
        </p:nvSpPr>
        <p:spPr/>
        <p:txBody>
          <a:bodyPr/>
          <a:lstStyle/>
          <a:p>
            <a:fld id="{FA884D49-F500-4BCC-932F-4966A4C83DF4}" type="slidenum">
              <a:rPr lang="ar-EG" smtClean="0"/>
              <a:t>‹#›</a:t>
            </a:fld>
            <a:endParaRPr lang="ar-EG"/>
          </a:p>
        </p:txBody>
      </p:sp>
    </p:spTree>
    <p:extLst>
      <p:ext uri="{BB962C8B-B14F-4D97-AF65-F5344CB8AC3E}">
        <p14:creationId xmlns:p14="http://schemas.microsoft.com/office/powerpoint/2010/main" val="14251712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475A116-6187-685B-1793-1A8598259907}"/>
              </a:ext>
            </a:extLst>
          </p:cNvPr>
          <p:cNvSpPr>
            <a:spLocks noGrp="1"/>
          </p:cNvSpPr>
          <p:nvPr>
            <p:ph type="dt" sz="half" idx="10"/>
          </p:nvPr>
        </p:nvSpPr>
        <p:spPr/>
        <p:txBody>
          <a:bodyPr/>
          <a:lstStyle/>
          <a:p>
            <a:fld id="{4192A140-CC7B-49A3-BA54-C6F11DD7D997}" type="datetimeFigureOut">
              <a:rPr lang="ar-EG" smtClean="0"/>
              <a:t>06/05/1448</a:t>
            </a:fld>
            <a:endParaRPr lang="ar-EG"/>
          </a:p>
        </p:txBody>
      </p:sp>
      <p:sp>
        <p:nvSpPr>
          <p:cNvPr id="3" name="Footer Placeholder 2">
            <a:extLst>
              <a:ext uri="{FF2B5EF4-FFF2-40B4-BE49-F238E27FC236}">
                <a16:creationId xmlns:a16="http://schemas.microsoft.com/office/drawing/2014/main" id="{51330A83-1200-A361-2EC9-B719132A8454}"/>
              </a:ext>
            </a:extLst>
          </p:cNvPr>
          <p:cNvSpPr>
            <a:spLocks noGrp="1"/>
          </p:cNvSpPr>
          <p:nvPr>
            <p:ph type="ftr" sz="quarter" idx="11"/>
          </p:nvPr>
        </p:nvSpPr>
        <p:spPr/>
        <p:txBody>
          <a:bodyPr/>
          <a:lstStyle/>
          <a:p>
            <a:endParaRPr lang="ar-EG"/>
          </a:p>
        </p:txBody>
      </p:sp>
      <p:sp>
        <p:nvSpPr>
          <p:cNvPr id="4" name="Slide Number Placeholder 3">
            <a:extLst>
              <a:ext uri="{FF2B5EF4-FFF2-40B4-BE49-F238E27FC236}">
                <a16:creationId xmlns:a16="http://schemas.microsoft.com/office/drawing/2014/main" id="{5C3C4FC6-ACC7-8AE3-835A-2C2831BCD870}"/>
              </a:ext>
            </a:extLst>
          </p:cNvPr>
          <p:cNvSpPr>
            <a:spLocks noGrp="1"/>
          </p:cNvSpPr>
          <p:nvPr>
            <p:ph type="sldNum" sz="quarter" idx="12"/>
          </p:nvPr>
        </p:nvSpPr>
        <p:spPr/>
        <p:txBody>
          <a:bodyPr/>
          <a:lstStyle/>
          <a:p>
            <a:fld id="{FA884D49-F500-4BCC-932F-4966A4C83DF4}" type="slidenum">
              <a:rPr lang="ar-EG" smtClean="0"/>
              <a:t>‹#›</a:t>
            </a:fld>
            <a:endParaRPr lang="ar-EG"/>
          </a:p>
        </p:txBody>
      </p:sp>
    </p:spTree>
    <p:extLst>
      <p:ext uri="{BB962C8B-B14F-4D97-AF65-F5344CB8AC3E}">
        <p14:creationId xmlns:p14="http://schemas.microsoft.com/office/powerpoint/2010/main" val="14622326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A1BE0A-D2FF-8763-F6A5-1A0AA2CC6113}"/>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ar-EG"/>
          </a:p>
        </p:txBody>
      </p:sp>
      <p:sp>
        <p:nvSpPr>
          <p:cNvPr id="3" name="Content Placeholder 2">
            <a:extLst>
              <a:ext uri="{FF2B5EF4-FFF2-40B4-BE49-F238E27FC236}">
                <a16:creationId xmlns:a16="http://schemas.microsoft.com/office/drawing/2014/main" id="{350BB36F-D228-504C-328F-4F924951984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ar-EG"/>
          </a:p>
        </p:txBody>
      </p:sp>
      <p:sp>
        <p:nvSpPr>
          <p:cNvPr id="4" name="Text Placeholder 3">
            <a:extLst>
              <a:ext uri="{FF2B5EF4-FFF2-40B4-BE49-F238E27FC236}">
                <a16:creationId xmlns:a16="http://schemas.microsoft.com/office/drawing/2014/main" id="{3B2B8E4C-C108-D772-3CBC-955D0BA9FFA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D4236749-8A06-1775-BB88-96069ABE0301}"/>
              </a:ext>
            </a:extLst>
          </p:cNvPr>
          <p:cNvSpPr>
            <a:spLocks noGrp="1"/>
          </p:cNvSpPr>
          <p:nvPr>
            <p:ph type="dt" sz="half" idx="10"/>
          </p:nvPr>
        </p:nvSpPr>
        <p:spPr/>
        <p:txBody>
          <a:bodyPr/>
          <a:lstStyle/>
          <a:p>
            <a:fld id="{4192A140-CC7B-49A3-BA54-C6F11DD7D997}" type="datetimeFigureOut">
              <a:rPr lang="ar-EG" smtClean="0"/>
              <a:t>06/05/1448</a:t>
            </a:fld>
            <a:endParaRPr lang="ar-EG"/>
          </a:p>
        </p:txBody>
      </p:sp>
      <p:sp>
        <p:nvSpPr>
          <p:cNvPr id="6" name="Footer Placeholder 5">
            <a:extLst>
              <a:ext uri="{FF2B5EF4-FFF2-40B4-BE49-F238E27FC236}">
                <a16:creationId xmlns:a16="http://schemas.microsoft.com/office/drawing/2014/main" id="{9F4B12B0-6EFF-A852-FBC9-0722F44062AE}"/>
              </a:ext>
            </a:extLst>
          </p:cNvPr>
          <p:cNvSpPr>
            <a:spLocks noGrp="1"/>
          </p:cNvSpPr>
          <p:nvPr>
            <p:ph type="ftr" sz="quarter" idx="11"/>
          </p:nvPr>
        </p:nvSpPr>
        <p:spPr/>
        <p:txBody>
          <a:bodyPr/>
          <a:lstStyle/>
          <a:p>
            <a:endParaRPr lang="ar-EG"/>
          </a:p>
        </p:txBody>
      </p:sp>
      <p:sp>
        <p:nvSpPr>
          <p:cNvPr id="7" name="Slide Number Placeholder 6">
            <a:extLst>
              <a:ext uri="{FF2B5EF4-FFF2-40B4-BE49-F238E27FC236}">
                <a16:creationId xmlns:a16="http://schemas.microsoft.com/office/drawing/2014/main" id="{EFD504B6-51A9-9EAC-F4EE-693EA34FFF10}"/>
              </a:ext>
            </a:extLst>
          </p:cNvPr>
          <p:cNvSpPr>
            <a:spLocks noGrp="1"/>
          </p:cNvSpPr>
          <p:nvPr>
            <p:ph type="sldNum" sz="quarter" idx="12"/>
          </p:nvPr>
        </p:nvSpPr>
        <p:spPr/>
        <p:txBody>
          <a:bodyPr/>
          <a:lstStyle/>
          <a:p>
            <a:fld id="{FA884D49-F500-4BCC-932F-4966A4C83DF4}" type="slidenum">
              <a:rPr lang="ar-EG" smtClean="0"/>
              <a:t>‹#›</a:t>
            </a:fld>
            <a:endParaRPr lang="ar-EG"/>
          </a:p>
        </p:txBody>
      </p:sp>
    </p:spTree>
    <p:extLst>
      <p:ext uri="{BB962C8B-B14F-4D97-AF65-F5344CB8AC3E}">
        <p14:creationId xmlns:p14="http://schemas.microsoft.com/office/powerpoint/2010/main" val="42878506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8D9CB9-19FE-1FC7-F6B9-D759674F31A4}"/>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ar-EG"/>
          </a:p>
        </p:txBody>
      </p:sp>
      <p:sp>
        <p:nvSpPr>
          <p:cNvPr id="3" name="Picture Placeholder 2">
            <a:extLst>
              <a:ext uri="{FF2B5EF4-FFF2-40B4-BE49-F238E27FC236}">
                <a16:creationId xmlns:a16="http://schemas.microsoft.com/office/drawing/2014/main" id="{BAEFDBE0-D9BD-5AEE-5895-FFF0771846F3}"/>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ar-EG"/>
          </a:p>
        </p:txBody>
      </p:sp>
      <p:sp>
        <p:nvSpPr>
          <p:cNvPr id="4" name="Text Placeholder 3">
            <a:extLst>
              <a:ext uri="{FF2B5EF4-FFF2-40B4-BE49-F238E27FC236}">
                <a16:creationId xmlns:a16="http://schemas.microsoft.com/office/drawing/2014/main" id="{B9E5137E-DFEC-43C6-2BBB-CA0E47E464F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AE297FCA-76B2-FB28-3F0C-6EF66319A24D}"/>
              </a:ext>
            </a:extLst>
          </p:cNvPr>
          <p:cNvSpPr>
            <a:spLocks noGrp="1"/>
          </p:cNvSpPr>
          <p:nvPr>
            <p:ph type="dt" sz="half" idx="10"/>
          </p:nvPr>
        </p:nvSpPr>
        <p:spPr/>
        <p:txBody>
          <a:bodyPr/>
          <a:lstStyle/>
          <a:p>
            <a:fld id="{4192A140-CC7B-49A3-BA54-C6F11DD7D997}" type="datetimeFigureOut">
              <a:rPr lang="ar-EG" smtClean="0"/>
              <a:t>06/05/1448</a:t>
            </a:fld>
            <a:endParaRPr lang="ar-EG"/>
          </a:p>
        </p:txBody>
      </p:sp>
      <p:sp>
        <p:nvSpPr>
          <p:cNvPr id="6" name="Footer Placeholder 5">
            <a:extLst>
              <a:ext uri="{FF2B5EF4-FFF2-40B4-BE49-F238E27FC236}">
                <a16:creationId xmlns:a16="http://schemas.microsoft.com/office/drawing/2014/main" id="{B322698A-A328-DE52-D519-D7781C996020}"/>
              </a:ext>
            </a:extLst>
          </p:cNvPr>
          <p:cNvSpPr>
            <a:spLocks noGrp="1"/>
          </p:cNvSpPr>
          <p:nvPr>
            <p:ph type="ftr" sz="quarter" idx="11"/>
          </p:nvPr>
        </p:nvSpPr>
        <p:spPr/>
        <p:txBody>
          <a:bodyPr/>
          <a:lstStyle/>
          <a:p>
            <a:endParaRPr lang="ar-EG"/>
          </a:p>
        </p:txBody>
      </p:sp>
      <p:sp>
        <p:nvSpPr>
          <p:cNvPr id="7" name="Slide Number Placeholder 6">
            <a:extLst>
              <a:ext uri="{FF2B5EF4-FFF2-40B4-BE49-F238E27FC236}">
                <a16:creationId xmlns:a16="http://schemas.microsoft.com/office/drawing/2014/main" id="{14A9410E-89B4-C8FE-9BB7-DF8D40C8AF01}"/>
              </a:ext>
            </a:extLst>
          </p:cNvPr>
          <p:cNvSpPr>
            <a:spLocks noGrp="1"/>
          </p:cNvSpPr>
          <p:nvPr>
            <p:ph type="sldNum" sz="quarter" idx="12"/>
          </p:nvPr>
        </p:nvSpPr>
        <p:spPr/>
        <p:txBody>
          <a:bodyPr/>
          <a:lstStyle/>
          <a:p>
            <a:fld id="{FA884D49-F500-4BCC-932F-4966A4C83DF4}" type="slidenum">
              <a:rPr lang="ar-EG" smtClean="0"/>
              <a:t>‹#›</a:t>
            </a:fld>
            <a:endParaRPr lang="ar-EG"/>
          </a:p>
        </p:txBody>
      </p:sp>
    </p:spTree>
    <p:extLst>
      <p:ext uri="{BB962C8B-B14F-4D97-AF65-F5344CB8AC3E}">
        <p14:creationId xmlns:p14="http://schemas.microsoft.com/office/powerpoint/2010/main" val="23786815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9AE272-E4F2-6D22-CA66-9DC66ADAB39D}"/>
              </a:ext>
            </a:extLst>
          </p:cNvPr>
          <p:cNvSpPr>
            <a:spLocks noGrp="1"/>
          </p:cNvSpPr>
          <p:nvPr>
            <p:ph type="title"/>
          </p:nvPr>
        </p:nvSpPr>
        <p:spPr/>
        <p:txBody>
          <a:bodyPr/>
          <a:lstStyle/>
          <a:p>
            <a:r>
              <a:rPr lang="en-GB"/>
              <a:t>Click to edit Master title style</a:t>
            </a:r>
            <a:endParaRPr lang="ar-EG"/>
          </a:p>
        </p:txBody>
      </p:sp>
      <p:sp>
        <p:nvSpPr>
          <p:cNvPr id="3" name="Vertical Text Placeholder 2">
            <a:extLst>
              <a:ext uri="{FF2B5EF4-FFF2-40B4-BE49-F238E27FC236}">
                <a16:creationId xmlns:a16="http://schemas.microsoft.com/office/drawing/2014/main" id="{93333A7F-DF90-DACB-C334-5F3311ECE570}"/>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ar-EG"/>
          </a:p>
        </p:txBody>
      </p:sp>
      <p:sp>
        <p:nvSpPr>
          <p:cNvPr id="4" name="Date Placeholder 3">
            <a:extLst>
              <a:ext uri="{FF2B5EF4-FFF2-40B4-BE49-F238E27FC236}">
                <a16:creationId xmlns:a16="http://schemas.microsoft.com/office/drawing/2014/main" id="{D53D3EB1-10F0-4A8A-CE52-5B16B73F2369}"/>
              </a:ext>
            </a:extLst>
          </p:cNvPr>
          <p:cNvSpPr>
            <a:spLocks noGrp="1"/>
          </p:cNvSpPr>
          <p:nvPr>
            <p:ph type="dt" sz="half" idx="10"/>
          </p:nvPr>
        </p:nvSpPr>
        <p:spPr/>
        <p:txBody>
          <a:bodyPr/>
          <a:lstStyle/>
          <a:p>
            <a:fld id="{4192A140-CC7B-49A3-BA54-C6F11DD7D997}" type="datetimeFigureOut">
              <a:rPr lang="ar-EG" smtClean="0"/>
              <a:t>06/05/1448</a:t>
            </a:fld>
            <a:endParaRPr lang="ar-EG"/>
          </a:p>
        </p:txBody>
      </p:sp>
      <p:sp>
        <p:nvSpPr>
          <p:cNvPr id="5" name="Footer Placeholder 4">
            <a:extLst>
              <a:ext uri="{FF2B5EF4-FFF2-40B4-BE49-F238E27FC236}">
                <a16:creationId xmlns:a16="http://schemas.microsoft.com/office/drawing/2014/main" id="{B9D69542-27A1-5EBB-FFFB-4712384F8F34}"/>
              </a:ext>
            </a:extLst>
          </p:cNvPr>
          <p:cNvSpPr>
            <a:spLocks noGrp="1"/>
          </p:cNvSpPr>
          <p:nvPr>
            <p:ph type="ftr" sz="quarter" idx="11"/>
          </p:nvPr>
        </p:nvSpPr>
        <p:spPr/>
        <p:txBody>
          <a:bodyPr/>
          <a:lstStyle/>
          <a:p>
            <a:endParaRPr lang="ar-EG"/>
          </a:p>
        </p:txBody>
      </p:sp>
      <p:sp>
        <p:nvSpPr>
          <p:cNvPr id="6" name="Slide Number Placeholder 5">
            <a:extLst>
              <a:ext uri="{FF2B5EF4-FFF2-40B4-BE49-F238E27FC236}">
                <a16:creationId xmlns:a16="http://schemas.microsoft.com/office/drawing/2014/main" id="{AE7C2C7F-66CA-4109-F96D-5D395C551BEA}"/>
              </a:ext>
            </a:extLst>
          </p:cNvPr>
          <p:cNvSpPr>
            <a:spLocks noGrp="1"/>
          </p:cNvSpPr>
          <p:nvPr>
            <p:ph type="sldNum" sz="quarter" idx="12"/>
          </p:nvPr>
        </p:nvSpPr>
        <p:spPr/>
        <p:txBody>
          <a:bodyPr/>
          <a:lstStyle/>
          <a:p>
            <a:fld id="{FA884D49-F500-4BCC-932F-4966A4C83DF4}" type="slidenum">
              <a:rPr lang="ar-EG" smtClean="0"/>
              <a:t>‹#›</a:t>
            </a:fld>
            <a:endParaRPr lang="ar-EG"/>
          </a:p>
        </p:txBody>
      </p:sp>
    </p:spTree>
    <p:extLst>
      <p:ext uri="{BB962C8B-B14F-4D97-AF65-F5344CB8AC3E}">
        <p14:creationId xmlns:p14="http://schemas.microsoft.com/office/powerpoint/2010/main" val="1213835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E84FCD2-96A2-B7D9-ACD6-892D4F65E1AD}"/>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ar-EG"/>
          </a:p>
        </p:txBody>
      </p:sp>
      <p:sp>
        <p:nvSpPr>
          <p:cNvPr id="3" name="Vertical Text Placeholder 2">
            <a:extLst>
              <a:ext uri="{FF2B5EF4-FFF2-40B4-BE49-F238E27FC236}">
                <a16:creationId xmlns:a16="http://schemas.microsoft.com/office/drawing/2014/main" id="{5824A584-CC28-D3E7-8378-AD2FD7E82FD3}"/>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ar-EG"/>
          </a:p>
        </p:txBody>
      </p:sp>
      <p:sp>
        <p:nvSpPr>
          <p:cNvPr id="4" name="Date Placeholder 3">
            <a:extLst>
              <a:ext uri="{FF2B5EF4-FFF2-40B4-BE49-F238E27FC236}">
                <a16:creationId xmlns:a16="http://schemas.microsoft.com/office/drawing/2014/main" id="{0B319927-0EDF-27E1-5380-02F393369924}"/>
              </a:ext>
            </a:extLst>
          </p:cNvPr>
          <p:cNvSpPr>
            <a:spLocks noGrp="1"/>
          </p:cNvSpPr>
          <p:nvPr>
            <p:ph type="dt" sz="half" idx="10"/>
          </p:nvPr>
        </p:nvSpPr>
        <p:spPr/>
        <p:txBody>
          <a:bodyPr/>
          <a:lstStyle/>
          <a:p>
            <a:fld id="{4192A140-CC7B-49A3-BA54-C6F11DD7D997}" type="datetimeFigureOut">
              <a:rPr lang="ar-EG" smtClean="0"/>
              <a:t>06/05/1448</a:t>
            </a:fld>
            <a:endParaRPr lang="ar-EG"/>
          </a:p>
        </p:txBody>
      </p:sp>
      <p:sp>
        <p:nvSpPr>
          <p:cNvPr id="5" name="Footer Placeholder 4">
            <a:extLst>
              <a:ext uri="{FF2B5EF4-FFF2-40B4-BE49-F238E27FC236}">
                <a16:creationId xmlns:a16="http://schemas.microsoft.com/office/drawing/2014/main" id="{37DAF868-12B5-449B-7C4E-718469232FFA}"/>
              </a:ext>
            </a:extLst>
          </p:cNvPr>
          <p:cNvSpPr>
            <a:spLocks noGrp="1"/>
          </p:cNvSpPr>
          <p:nvPr>
            <p:ph type="ftr" sz="quarter" idx="11"/>
          </p:nvPr>
        </p:nvSpPr>
        <p:spPr/>
        <p:txBody>
          <a:bodyPr/>
          <a:lstStyle/>
          <a:p>
            <a:endParaRPr lang="ar-EG"/>
          </a:p>
        </p:txBody>
      </p:sp>
      <p:sp>
        <p:nvSpPr>
          <p:cNvPr id="6" name="Slide Number Placeholder 5">
            <a:extLst>
              <a:ext uri="{FF2B5EF4-FFF2-40B4-BE49-F238E27FC236}">
                <a16:creationId xmlns:a16="http://schemas.microsoft.com/office/drawing/2014/main" id="{F2345196-E601-AA56-8F46-7042A31F92BA}"/>
              </a:ext>
            </a:extLst>
          </p:cNvPr>
          <p:cNvSpPr>
            <a:spLocks noGrp="1"/>
          </p:cNvSpPr>
          <p:nvPr>
            <p:ph type="sldNum" sz="quarter" idx="12"/>
          </p:nvPr>
        </p:nvSpPr>
        <p:spPr/>
        <p:txBody>
          <a:bodyPr/>
          <a:lstStyle/>
          <a:p>
            <a:fld id="{FA884D49-F500-4BCC-932F-4966A4C83DF4}" type="slidenum">
              <a:rPr lang="ar-EG" smtClean="0"/>
              <a:t>‹#›</a:t>
            </a:fld>
            <a:endParaRPr lang="ar-EG"/>
          </a:p>
        </p:txBody>
      </p:sp>
    </p:spTree>
    <p:extLst>
      <p:ext uri="{BB962C8B-B14F-4D97-AF65-F5344CB8AC3E}">
        <p14:creationId xmlns:p14="http://schemas.microsoft.com/office/powerpoint/2010/main" val="13020648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86CE41D-A7CD-1281-B491-58A6DDAB4E4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ar-EG"/>
          </a:p>
        </p:txBody>
      </p:sp>
      <p:sp>
        <p:nvSpPr>
          <p:cNvPr id="3" name="Text Placeholder 2">
            <a:extLst>
              <a:ext uri="{FF2B5EF4-FFF2-40B4-BE49-F238E27FC236}">
                <a16:creationId xmlns:a16="http://schemas.microsoft.com/office/drawing/2014/main" id="{D86F3B89-DC36-13DD-5439-094D102D017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ar-EG"/>
          </a:p>
        </p:txBody>
      </p:sp>
      <p:sp>
        <p:nvSpPr>
          <p:cNvPr id="4" name="Date Placeholder 3">
            <a:extLst>
              <a:ext uri="{FF2B5EF4-FFF2-40B4-BE49-F238E27FC236}">
                <a16:creationId xmlns:a16="http://schemas.microsoft.com/office/drawing/2014/main" id="{8AA1D586-5339-AFFE-3D4F-686AA58E346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192A140-CC7B-49A3-BA54-C6F11DD7D997}" type="datetimeFigureOut">
              <a:rPr lang="ar-EG" smtClean="0"/>
              <a:t>06/05/1448</a:t>
            </a:fld>
            <a:endParaRPr lang="ar-EG"/>
          </a:p>
        </p:txBody>
      </p:sp>
      <p:sp>
        <p:nvSpPr>
          <p:cNvPr id="5" name="Footer Placeholder 4">
            <a:extLst>
              <a:ext uri="{FF2B5EF4-FFF2-40B4-BE49-F238E27FC236}">
                <a16:creationId xmlns:a16="http://schemas.microsoft.com/office/drawing/2014/main" id="{8FC4022A-498B-4E8C-6780-B53265F7F5C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ar-EG"/>
          </a:p>
        </p:txBody>
      </p:sp>
      <p:sp>
        <p:nvSpPr>
          <p:cNvPr id="6" name="Slide Number Placeholder 5">
            <a:extLst>
              <a:ext uri="{FF2B5EF4-FFF2-40B4-BE49-F238E27FC236}">
                <a16:creationId xmlns:a16="http://schemas.microsoft.com/office/drawing/2014/main" id="{65846D5C-C105-5090-07D0-AFD577EE46B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A884D49-F500-4BCC-932F-4966A4C83DF4}" type="slidenum">
              <a:rPr lang="ar-EG" smtClean="0"/>
              <a:t>‹#›</a:t>
            </a:fld>
            <a:endParaRPr lang="ar-EG"/>
          </a:p>
        </p:txBody>
      </p:sp>
    </p:spTree>
    <p:extLst>
      <p:ext uri="{BB962C8B-B14F-4D97-AF65-F5344CB8AC3E}">
        <p14:creationId xmlns:p14="http://schemas.microsoft.com/office/powerpoint/2010/main" val="334371923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ar-EG"/>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www.nist.gov/itl/ai-risk-management-framework" TargetMode="External"/><Relationship Id="rId2" Type="http://schemas.openxmlformats.org/officeDocument/2006/relationships/hyperlink" Target="https://www.ibm.com/think/topics/chatbots"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DF4C8B-0F93-C328-DE6B-218DEFBCA6EB}"/>
              </a:ext>
            </a:extLst>
          </p:cNvPr>
          <p:cNvSpPr>
            <a:spLocks noGrp="1"/>
          </p:cNvSpPr>
          <p:nvPr>
            <p:ph type="ctrTitle"/>
          </p:nvPr>
        </p:nvSpPr>
        <p:spPr>
          <a:xfrm>
            <a:off x="1524000" y="1600201"/>
            <a:ext cx="9144000" cy="1618816"/>
          </a:xfrm>
          <a:solidFill>
            <a:schemeClr val="bg2">
              <a:lumMod val="50000"/>
            </a:schemeClr>
          </a:solidFill>
        </p:spPr>
        <p:txBody>
          <a:bodyPr>
            <a:normAutofit fontScale="90000"/>
          </a:bodyPr>
          <a:lstStyle/>
          <a:p>
            <a:br>
              <a:rPr lang="en-US" dirty="0"/>
            </a:br>
            <a:r>
              <a:rPr lang="ar-EG" dirty="0"/>
              <a:t>عنوان البحث :</a:t>
            </a:r>
            <a:br>
              <a:rPr lang="ar-EG" dirty="0"/>
            </a:br>
            <a:endParaRPr lang="ar-EG" dirty="0"/>
          </a:p>
        </p:txBody>
      </p:sp>
      <p:sp>
        <p:nvSpPr>
          <p:cNvPr id="3" name="Subtitle 2">
            <a:extLst>
              <a:ext uri="{FF2B5EF4-FFF2-40B4-BE49-F238E27FC236}">
                <a16:creationId xmlns:a16="http://schemas.microsoft.com/office/drawing/2014/main" id="{2C3B713A-BF56-D406-4686-8C10B20DAE2A}"/>
              </a:ext>
            </a:extLst>
          </p:cNvPr>
          <p:cNvSpPr>
            <a:spLocks noGrp="1"/>
          </p:cNvSpPr>
          <p:nvPr>
            <p:ph type="subTitle" idx="1"/>
          </p:nvPr>
        </p:nvSpPr>
        <p:spPr>
          <a:xfrm>
            <a:off x="1524000" y="4177146"/>
            <a:ext cx="9144000" cy="1080654"/>
          </a:xfrm>
        </p:spPr>
        <p:style>
          <a:lnRef idx="2">
            <a:schemeClr val="dk1">
              <a:shade val="15000"/>
            </a:schemeClr>
          </a:lnRef>
          <a:fillRef idx="1">
            <a:schemeClr val="dk1"/>
          </a:fillRef>
          <a:effectRef idx="0">
            <a:schemeClr val="dk1"/>
          </a:effectRef>
          <a:fontRef idx="minor">
            <a:schemeClr val="lt1"/>
          </a:fontRef>
        </p:style>
        <p:txBody>
          <a:bodyPr>
            <a:normAutofit/>
          </a:bodyPr>
          <a:lstStyle/>
          <a:p>
            <a:br>
              <a:rPr lang="en-US" sz="2000" dirty="0"/>
            </a:br>
            <a:r>
              <a:rPr lang="ar-EG" sz="2000" dirty="0"/>
              <a:t>الاسم : مريم محمد ابراهيم محمود احمد</a:t>
            </a:r>
            <a:br>
              <a:rPr lang="ar-EG" sz="2000" dirty="0"/>
            </a:br>
            <a:r>
              <a:rPr lang="ar-EG" sz="2000" dirty="0"/>
              <a:t>السكشن : 140</a:t>
            </a:r>
          </a:p>
        </p:txBody>
      </p:sp>
    </p:spTree>
    <p:extLst>
      <p:ext uri="{BB962C8B-B14F-4D97-AF65-F5344CB8AC3E}">
        <p14:creationId xmlns:p14="http://schemas.microsoft.com/office/powerpoint/2010/main" val="26616854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7722E2-E925-D6CE-A976-6B2D0AFCE73D}"/>
              </a:ext>
            </a:extLst>
          </p:cNvPr>
          <p:cNvSpPr>
            <a:spLocks noGrp="1"/>
          </p:cNvSpPr>
          <p:nvPr>
            <p:ph type="title"/>
          </p:nvPr>
        </p:nvSpPr>
        <p:spPr>
          <a:xfrm>
            <a:off x="8863444" y="365125"/>
            <a:ext cx="2490355" cy="1325563"/>
          </a:xfrm>
        </p:spPr>
        <p:txBody>
          <a:bodyPr/>
          <a:lstStyle/>
          <a:p>
            <a:r>
              <a:rPr lang="ar-EG" dirty="0"/>
              <a:t>المقدمه </a:t>
            </a:r>
          </a:p>
        </p:txBody>
      </p:sp>
      <p:sp>
        <p:nvSpPr>
          <p:cNvPr id="3" name="Content Placeholder 2">
            <a:extLst>
              <a:ext uri="{FF2B5EF4-FFF2-40B4-BE49-F238E27FC236}">
                <a16:creationId xmlns:a16="http://schemas.microsoft.com/office/drawing/2014/main" id="{271BF153-64C2-82E4-98AA-9BA14CAF481B}"/>
              </a:ext>
            </a:extLst>
          </p:cNvPr>
          <p:cNvSpPr>
            <a:spLocks noGrp="1"/>
          </p:cNvSpPr>
          <p:nvPr>
            <p:ph idx="1"/>
          </p:nvPr>
        </p:nvSpPr>
        <p:spPr/>
        <p:txBody>
          <a:bodyPr>
            <a:noAutofit/>
          </a:bodyPr>
          <a:lstStyle/>
          <a:p>
            <a:r>
              <a:rPr lang="ar-EG" sz="4000" dirty="0"/>
              <a:t>انتشرت روبوتات الدردشة في مواقع الإنترنت والتطبيقات المختلفة، وأصبحت تستخدمها المؤسسات والشركات لتقديم خدمات أسرع وأكثر سهولة للمستخدمين. كما تطورت هذه الروبوتات بفضل الذكاء الاصطناعي، فأصبح بعضها قادرًا على فهم اللغة البشرية وتحليل الأسئلة وتقديم إجابات مناسبة للسياق. ويهدف هذا البحث إلى التعرف على مفهوم روبوتات الدردشة، وكيفية عملها، وأنواعها، وأهم استخداماتها ومميزاتها وتحدياتها، مع توضيح ذلك بأمثلة من الواقع.</a:t>
            </a:r>
          </a:p>
        </p:txBody>
      </p:sp>
    </p:spTree>
    <p:extLst>
      <p:ext uri="{BB962C8B-B14F-4D97-AF65-F5344CB8AC3E}">
        <p14:creationId xmlns:p14="http://schemas.microsoft.com/office/powerpoint/2010/main" val="13213987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68922E-47AA-8B6B-8DBF-36E8AF177700}"/>
              </a:ext>
            </a:extLst>
          </p:cNvPr>
          <p:cNvSpPr>
            <a:spLocks noGrp="1"/>
          </p:cNvSpPr>
          <p:nvPr>
            <p:ph type="title"/>
          </p:nvPr>
        </p:nvSpPr>
        <p:spPr>
          <a:xfrm>
            <a:off x="6096000" y="365125"/>
            <a:ext cx="5257800" cy="1325563"/>
          </a:xfrm>
        </p:spPr>
        <p:txBody>
          <a:bodyPr>
            <a:normAutofit fontScale="90000"/>
          </a:bodyPr>
          <a:lstStyle/>
          <a:p>
            <a:r>
              <a:rPr lang="ar-EG" b="1" dirty="0"/>
              <a:t>أولًا: مفهوم روبوتات الدردشة</a:t>
            </a:r>
            <a:br>
              <a:rPr lang="ar-EG" b="1" dirty="0"/>
            </a:br>
            <a:endParaRPr lang="ar-EG" dirty="0"/>
          </a:p>
        </p:txBody>
      </p:sp>
      <p:sp>
        <p:nvSpPr>
          <p:cNvPr id="3" name="Content Placeholder 2">
            <a:extLst>
              <a:ext uri="{FF2B5EF4-FFF2-40B4-BE49-F238E27FC236}">
                <a16:creationId xmlns:a16="http://schemas.microsoft.com/office/drawing/2014/main" id="{288A54A5-8871-7EBD-ECC6-EB911A4DAD30}"/>
              </a:ext>
            </a:extLst>
          </p:cNvPr>
          <p:cNvSpPr>
            <a:spLocks noGrp="1"/>
          </p:cNvSpPr>
          <p:nvPr>
            <p:ph idx="1"/>
          </p:nvPr>
        </p:nvSpPr>
        <p:spPr/>
        <p:txBody>
          <a:bodyPr>
            <a:normAutofit fontScale="92500"/>
          </a:bodyPr>
          <a:lstStyle/>
          <a:p>
            <a:r>
              <a:rPr lang="ar-EG" dirty="0"/>
              <a:t>روبوتات الدردشة هي برامج إلكترونية تتيح للمستخدم إجراء محادثة مع جهاز الحاسوب أو الهاتف المحمول بطريقة تشبه الحوار مع الإنسان. ويمكن أن تعمل هذه البرامج من خلال كتابة الرسائل أو التحدث بالصوت، ثم تقوم بتحليل مدخلات المستخدم وتقديم رد مناسب بناءً على القواعد المبرمجة فيها أو على تقنيات الذكاء الاصطناعي التي تستخدمها.</a:t>
            </a:r>
          </a:p>
          <a:p>
            <a:r>
              <a:rPr lang="ar-EG" dirty="0"/>
              <a:t>ولا تعني كلمة «روبوت» بالضرورة وجود آلة مادية تتحرك، فمعظم روبوتات الدردشة عبارة عن برامج تعمل داخل المواقع الإلكترونية والتطبيقات. ومن أمثلتها روبوتات خدمة العملاء التي تجيب عن استفسارات المشترين، والمساعدات الافتراضية التي تساعد المستخدم في البحث عن المعلومات، والأنظمة التعليمية التي تشرح الدروس وتجيب عن الأسئلة.</a:t>
            </a:r>
          </a:p>
          <a:p>
            <a:r>
              <a:rPr lang="ar-EG" dirty="0"/>
              <a:t>وتكمن أهمية هذه التقنية في قدرتها على تسهيل التواصل بين الإنسان والخدمات الرقمية، وتقليل الوقت اللازم للحصول على المعلومات، وتوفير المساعدة في كثير من الأوقات دون الحاجة إلى تدخل بشري مباشر.</a:t>
            </a:r>
          </a:p>
          <a:p>
            <a:endParaRPr lang="ar-EG" dirty="0"/>
          </a:p>
        </p:txBody>
      </p:sp>
    </p:spTree>
    <p:extLst>
      <p:ext uri="{BB962C8B-B14F-4D97-AF65-F5344CB8AC3E}">
        <p14:creationId xmlns:p14="http://schemas.microsoft.com/office/powerpoint/2010/main" val="7838184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16F0C2-9614-837E-864B-435BDD0AC7F6}"/>
              </a:ext>
            </a:extLst>
          </p:cNvPr>
          <p:cNvSpPr>
            <a:spLocks noGrp="1"/>
          </p:cNvSpPr>
          <p:nvPr>
            <p:ph type="title"/>
          </p:nvPr>
        </p:nvSpPr>
        <p:spPr>
          <a:xfrm>
            <a:off x="4717472" y="365125"/>
            <a:ext cx="6636327" cy="1325563"/>
          </a:xfrm>
        </p:spPr>
        <p:txBody>
          <a:bodyPr/>
          <a:lstStyle/>
          <a:p>
            <a:r>
              <a:rPr lang="ar-EG" b="1" dirty="0"/>
              <a:t>ثانيًا: كيف تعمل روبوتات الدردشة؟</a:t>
            </a:r>
            <a:br>
              <a:rPr lang="ar-EG" b="1" dirty="0"/>
            </a:br>
            <a:endParaRPr lang="ar-EG" dirty="0"/>
          </a:p>
        </p:txBody>
      </p:sp>
      <p:sp>
        <p:nvSpPr>
          <p:cNvPr id="3" name="Content Placeholder 2">
            <a:extLst>
              <a:ext uri="{FF2B5EF4-FFF2-40B4-BE49-F238E27FC236}">
                <a16:creationId xmlns:a16="http://schemas.microsoft.com/office/drawing/2014/main" id="{04CFDEDE-A25F-00BA-490D-A8231C5FAC52}"/>
              </a:ext>
            </a:extLst>
          </p:cNvPr>
          <p:cNvSpPr>
            <a:spLocks noGrp="1"/>
          </p:cNvSpPr>
          <p:nvPr>
            <p:ph idx="1"/>
          </p:nvPr>
        </p:nvSpPr>
        <p:spPr/>
        <p:txBody>
          <a:bodyPr>
            <a:normAutofit fontScale="92500" lnSpcReduction="20000"/>
          </a:bodyPr>
          <a:lstStyle/>
          <a:p>
            <a:r>
              <a:rPr lang="ar-EG" dirty="0"/>
              <a:t>تعتمد طريقة عمل روبوتات الدردشة على مجموعة من الخطوات التي تبدأ باستقبال سؤال المستخدم وتنتهي بإظهار الإجابة المناسبة. ويمكن توضيح هذه الخطوات فيما يأتي:</a:t>
            </a:r>
          </a:p>
          <a:p>
            <a:pPr lvl="0"/>
            <a:r>
              <a:rPr lang="ar-EG" b="1" dirty="0"/>
              <a:t>استقبال السؤال:</a:t>
            </a:r>
            <a:r>
              <a:rPr lang="ar-EG" dirty="0"/>
              <a:t> يكتب المستخدم سؤاله أو يطرحه بالصوت، مثل: «ما مواعيد العمل؟».</a:t>
            </a:r>
          </a:p>
          <a:p>
            <a:pPr lvl="0"/>
            <a:r>
              <a:rPr lang="ar-EG" b="1" dirty="0"/>
              <a:t>تحليل الرسالة:</a:t>
            </a:r>
            <a:r>
              <a:rPr lang="ar-EG" dirty="0"/>
              <a:t> يحاول النظام تحديد الكلمات المهمة وفهم المقصود من السؤال.</a:t>
            </a:r>
          </a:p>
          <a:p>
            <a:pPr lvl="0"/>
            <a:r>
              <a:rPr lang="ar-EG" b="1" dirty="0"/>
              <a:t>معالجة المعلومات:</a:t>
            </a:r>
            <a:r>
              <a:rPr lang="ar-EG" dirty="0"/>
              <a:t> يبحث الروبوت عن إجابة في قاعدة بيانات أو يتبع قواعد محددة، وقد يستخدم نموذجًا من نماذج الذكاء الاصطناعي لفهم اللغة وتوليد الردود.</a:t>
            </a:r>
          </a:p>
          <a:p>
            <a:pPr lvl="0"/>
            <a:r>
              <a:rPr lang="ar-EG" b="1" dirty="0"/>
              <a:t>إنتاج الإجابة:</a:t>
            </a:r>
            <a:r>
              <a:rPr lang="ar-EG" dirty="0"/>
              <a:t> يعرض الروبوت الرد للمستخدم بصورة نصية أو صوتية.</a:t>
            </a:r>
          </a:p>
          <a:p>
            <a:pPr lvl="0"/>
            <a:r>
              <a:rPr lang="ar-EG" b="1" dirty="0"/>
              <a:t>تحسين الأداء:</a:t>
            </a:r>
            <a:r>
              <a:rPr lang="ar-EG" dirty="0"/>
              <a:t> يمكن لبعض الأنظمة الاستفادة من تقييمات المستخدمين وبيانات الاستخدام لتحسين جودة الإجابات، وفقًا لطريقة تصميمها وسياسات الخصوصية المتبعة.</a:t>
            </a:r>
          </a:p>
          <a:p>
            <a:r>
              <a:rPr lang="ar-EG" dirty="0"/>
              <a:t>وتختلف دقة الإجابات باختلاف التقنية المستخدمة، وجودة المعلومات المتاحة، وطريقة صياغة السؤال. لذلك قد تجيب بعض الروبوتات عن الأسئلة البسيطة بدقة كبيرة، بينما قد تواجه صعوبة في فهم الأسئلة الغامضة أو التعامل مع المواقف المعقدة.</a:t>
            </a:r>
          </a:p>
          <a:p>
            <a:endParaRPr lang="ar-EG" dirty="0"/>
          </a:p>
        </p:txBody>
      </p:sp>
    </p:spTree>
    <p:extLst>
      <p:ext uri="{BB962C8B-B14F-4D97-AF65-F5344CB8AC3E}">
        <p14:creationId xmlns:p14="http://schemas.microsoft.com/office/powerpoint/2010/main" val="5019395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5442A8-076B-7667-0083-A6ABAF78C65C}"/>
              </a:ext>
            </a:extLst>
          </p:cNvPr>
          <p:cNvSpPr>
            <a:spLocks noGrp="1"/>
          </p:cNvSpPr>
          <p:nvPr>
            <p:ph type="title"/>
          </p:nvPr>
        </p:nvSpPr>
        <p:spPr>
          <a:xfrm>
            <a:off x="5933209" y="365125"/>
            <a:ext cx="5420591" cy="1325563"/>
          </a:xfrm>
        </p:spPr>
        <p:txBody>
          <a:bodyPr>
            <a:normAutofit fontScale="90000"/>
          </a:bodyPr>
          <a:lstStyle/>
          <a:p>
            <a:r>
              <a:rPr lang="ar-EG" b="1" dirty="0"/>
              <a:t>ثالثًا: أنواع روبوتات الدردشة</a:t>
            </a:r>
            <a:br>
              <a:rPr lang="ar-EG" b="1" dirty="0"/>
            </a:br>
            <a:endParaRPr lang="ar-EG" dirty="0"/>
          </a:p>
        </p:txBody>
      </p:sp>
      <p:sp>
        <p:nvSpPr>
          <p:cNvPr id="3" name="Content Placeholder 2">
            <a:extLst>
              <a:ext uri="{FF2B5EF4-FFF2-40B4-BE49-F238E27FC236}">
                <a16:creationId xmlns:a16="http://schemas.microsoft.com/office/drawing/2014/main" id="{8606DB0E-4ED0-4C1C-0B75-238B09A2BFD5}"/>
              </a:ext>
            </a:extLst>
          </p:cNvPr>
          <p:cNvSpPr>
            <a:spLocks noGrp="1"/>
          </p:cNvSpPr>
          <p:nvPr>
            <p:ph idx="1"/>
          </p:nvPr>
        </p:nvSpPr>
        <p:spPr/>
        <p:txBody>
          <a:bodyPr>
            <a:normAutofit fontScale="77500" lnSpcReduction="20000"/>
          </a:bodyPr>
          <a:lstStyle/>
          <a:p>
            <a:r>
              <a:rPr lang="ar-EG" dirty="0"/>
              <a:t>تنقسم روبوتات الدردشة إلى عدة أنواع، من أهمها:</a:t>
            </a:r>
          </a:p>
          <a:p>
            <a:r>
              <a:rPr lang="ar-EG" b="1" dirty="0"/>
              <a:t>1. روبوتات الدردشة القائمة على القواعد:</a:t>
            </a:r>
            <a:r>
              <a:rPr lang="ar-EG" dirty="0"/>
              <a:t> تعتمد على مجموعة من الأسئلة والإجابات المحددة مسبقًا، وتعمل وفقًا لمسارات أو اختيارات يحددها المستخدم. وتتميز بسهولة تصميمها، لكنها قد لا تستطيع التعامل مع الأسئلة التي تختلف كثيرًا عن السيناريوهات المبرمجة.</a:t>
            </a:r>
          </a:p>
          <a:p>
            <a:r>
              <a:rPr lang="ar-EG" dirty="0"/>
              <a:t>مثال: روبوت في موقع متجر يسأل العميل عما إذا كان يريد معرفة أسعار المنتجات أو مواعيد التوصيل أو طريقة الدفع.</a:t>
            </a:r>
          </a:p>
          <a:p>
            <a:r>
              <a:rPr lang="ar-EG" b="1" dirty="0"/>
              <a:t>2. روبوتات الدردشة المعتمدة على الذكاء الاصطناعي:</a:t>
            </a:r>
            <a:r>
              <a:rPr lang="ar-EG" dirty="0"/>
              <a:t> تستخدم تقنيات معالجة اللغة الطبيعية لفهم أسئلة المستخدمين بدرجات متفاوتة، ويمكنها التعامل مع صيغ مختلفة للسؤال وتقديم إجابات أكثر مرونة.</a:t>
            </a:r>
          </a:p>
          <a:p>
            <a:r>
              <a:rPr lang="ar-EG" dirty="0"/>
              <a:t>مثال: مساعد افتراضي يستطيع الإجابة عن سؤال الطالب حول مفهوم علمي، ثم تبسيط الشرح عندما يطلب الطالب مثالًا إضافيًا.</a:t>
            </a:r>
          </a:p>
          <a:p>
            <a:r>
              <a:rPr lang="ar-EG" b="1" dirty="0"/>
              <a:t>3. روبوتات الدردشة التوليدية:</a:t>
            </a:r>
            <a:r>
              <a:rPr lang="ar-EG" dirty="0"/>
              <a:t> تعتمد على نماذج ذكاء اصطناعي قادرة على إنشاء نصوص جديدة استجابةً لطلبات المستخدمين، بدلًا من الاكتفاء باختيار إجابة محفوظة. ويمكنها تلخيص النصوص وكتابة المسودات وشرح الأفكار والمساعدة في البرمجة.</a:t>
            </a:r>
          </a:p>
          <a:p>
            <a:r>
              <a:rPr lang="ar-EG" dirty="0"/>
              <a:t>مثال: ChatGPT، الذي يستطيع شرح موضوع دراسي أو اقتراح أفكار لبحث أو تلخيص مقال يقدمه المستخدم.</a:t>
            </a:r>
          </a:p>
          <a:p>
            <a:endParaRPr lang="ar-EG" dirty="0"/>
          </a:p>
        </p:txBody>
      </p:sp>
    </p:spTree>
    <p:extLst>
      <p:ext uri="{BB962C8B-B14F-4D97-AF65-F5344CB8AC3E}">
        <p14:creationId xmlns:p14="http://schemas.microsoft.com/office/powerpoint/2010/main" val="19562504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3543F5-AB56-0D48-A6E1-60E145EA25B2}"/>
              </a:ext>
            </a:extLst>
          </p:cNvPr>
          <p:cNvSpPr>
            <a:spLocks noGrp="1"/>
          </p:cNvSpPr>
          <p:nvPr>
            <p:ph type="title"/>
          </p:nvPr>
        </p:nvSpPr>
        <p:spPr>
          <a:xfrm>
            <a:off x="4073236" y="365125"/>
            <a:ext cx="7280564" cy="1325563"/>
          </a:xfrm>
        </p:spPr>
        <p:txBody>
          <a:bodyPr>
            <a:normAutofit fontScale="90000"/>
          </a:bodyPr>
          <a:lstStyle/>
          <a:p>
            <a:r>
              <a:rPr lang="ar-EG" b="1" dirty="0"/>
              <a:t>رابعًا: أهم استخدامات روبوتات الدردشة</a:t>
            </a:r>
            <a:br>
              <a:rPr lang="ar-EG" b="1" dirty="0"/>
            </a:br>
            <a:endParaRPr lang="ar-EG" dirty="0"/>
          </a:p>
        </p:txBody>
      </p:sp>
      <p:sp>
        <p:nvSpPr>
          <p:cNvPr id="3" name="Content Placeholder 2">
            <a:extLst>
              <a:ext uri="{FF2B5EF4-FFF2-40B4-BE49-F238E27FC236}">
                <a16:creationId xmlns:a16="http://schemas.microsoft.com/office/drawing/2014/main" id="{42F1BE03-B31D-CBAC-BB99-5161FC73ABD6}"/>
              </a:ext>
            </a:extLst>
          </p:cNvPr>
          <p:cNvSpPr>
            <a:spLocks noGrp="1"/>
          </p:cNvSpPr>
          <p:nvPr>
            <p:ph idx="1"/>
          </p:nvPr>
        </p:nvSpPr>
        <p:spPr/>
        <p:txBody>
          <a:bodyPr>
            <a:noAutofit/>
          </a:bodyPr>
          <a:lstStyle/>
          <a:p>
            <a:r>
              <a:rPr lang="ar-EG" sz="1600" dirty="0"/>
              <a:t>تدخل روبوتات الدردشة في مجالات عديدة، ومن أبرزها:</a:t>
            </a:r>
          </a:p>
          <a:p>
            <a:r>
              <a:rPr lang="ar-EG" sz="1600" b="1" dirty="0"/>
              <a:t>1. التعليم:</a:t>
            </a:r>
            <a:r>
              <a:rPr lang="ar-EG" sz="1600" dirty="0"/>
              <a:t> تساعد الطلاب في فهم الدروس، وتبسيط المعلومات، والتدرب على حل المسائل، وتعلم اللغات. ويمكن للمعلم استخدامها لإعداد أسئلة تدريبية وأنشطة تعليمية.</a:t>
            </a:r>
          </a:p>
          <a:p>
            <a:r>
              <a:rPr lang="ar-EG" sz="1600" dirty="0"/>
              <a:t>مثال: يطلب طالب من روبوت دردشة شرح دورة الماء في الطبيعة، فيقدم له شرحًا مبسطًا يتناول التبخر والتكاثف والهطول، مع أمثلة من الحياة اليومية.</a:t>
            </a:r>
          </a:p>
          <a:p>
            <a:r>
              <a:rPr lang="ar-EG" sz="1600" b="1" dirty="0"/>
              <a:t>2. التجارة الإلكترونية:</a:t>
            </a:r>
            <a:r>
              <a:rPr lang="ar-EG" sz="1600" dirty="0"/>
              <a:t> تستخدم المتاجر روبوتات الدردشة للرد على أسئلة العملاء حول المنتجات والأسعار وطرق الدفع والشحن والاسترجاع.</a:t>
            </a:r>
          </a:p>
          <a:p>
            <a:r>
              <a:rPr lang="ar-EG" sz="1600" dirty="0"/>
              <a:t>مثال: يسأل العميل عن موعد وصول طلبه، فيساعده الروبوت في الوصول إلى معلومات الشحنة إذا كان مرتبطًا بنظام المتجر.</a:t>
            </a:r>
          </a:p>
          <a:p>
            <a:r>
              <a:rPr lang="ar-EG" sz="1600" b="1" dirty="0"/>
              <a:t>3. خدمة العملاء:</a:t>
            </a:r>
            <a:r>
              <a:rPr lang="ar-EG" sz="1600" dirty="0"/>
              <a:t> تستعين الشركات بهذه الروبوتات للإجابة عن الأسئلة المتكررة، وتوجيه العملاء إلى القسم المناسب، وتوفير المساعدة خارج ساعات العمل المعتادة.</a:t>
            </a:r>
          </a:p>
          <a:p>
            <a:r>
              <a:rPr lang="ar-EG" sz="1600" dirty="0"/>
              <a:t>مثال: يستطيع روبوت تابع لشركة اتصالات توضيح خطوات تجديد الباقة أو إرشاد العميل إلى طريقة التواصل مع موظف الدعم.</a:t>
            </a:r>
          </a:p>
          <a:p>
            <a:r>
              <a:rPr lang="ar-EG" sz="1600" b="1" dirty="0"/>
              <a:t>4. الرعاية الصحية:</a:t>
            </a:r>
            <a:r>
              <a:rPr lang="ar-EG" sz="1600" dirty="0"/>
              <a:t> يمكن استخدامها لتقديم معلومات صحية عامة، أو المساعدة في تنظيم المواعيد، أو توجيه المستخدم إلى الخدمات المناسبة. ومع ذلك، لا ينبغي الاعتماد عليها وحدها في تشخيص الأمراض أو اتخاذ قرارات علاجية.</a:t>
            </a:r>
          </a:p>
          <a:p>
            <a:r>
              <a:rPr lang="ar-EG" sz="1600" dirty="0"/>
              <a:t>مثال: يستخدم المريض روبوتًا تابعًا لمركز طبي لمعرفة كيفية حجز موعد أو الاطلاع على مواعيد العيادات.</a:t>
            </a:r>
          </a:p>
          <a:p>
            <a:r>
              <a:rPr lang="ar-EG" sz="1600" b="1" dirty="0"/>
              <a:t>5. الأعمال والإنتاجية:</a:t>
            </a:r>
            <a:r>
              <a:rPr lang="ar-EG" sz="1600" dirty="0"/>
              <a:t> تساعد روبوتات الدردشة الموظفين في صياغة الرسائل، وتلخيص المستندات، وتنظيم الأفكار، والإجابة عن بعض الأسئلة المتعلقة بالعمل.</a:t>
            </a:r>
          </a:p>
          <a:p>
            <a:r>
              <a:rPr lang="ar-EG" sz="1600" dirty="0"/>
              <a:t>مثال: يطلب موظف تلخيص تقرير طويل في نقاط رئيسية لتسهيل عرضه في اجتماع.</a:t>
            </a:r>
          </a:p>
          <a:p>
            <a:endParaRPr lang="ar-EG" sz="1600" dirty="0"/>
          </a:p>
        </p:txBody>
      </p:sp>
    </p:spTree>
    <p:extLst>
      <p:ext uri="{BB962C8B-B14F-4D97-AF65-F5344CB8AC3E}">
        <p14:creationId xmlns:p14="http://schemas.microsoft.com/office/powerpoint/2010/main" val="8143360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9D23AC-B6E7-E3E7-6E22-F14FB1D2DAF5}"/>
              </a:ext>
            </a:extLst>
          </p:cNvPr>
          <p:cNvSpPr>
            <a:spLocks noGrp="1"/>
          </p:cNvSpPr>
          <p:nvPr>
            <p:ph type="title"/>
          </p:nvPr>
        </p:nvSpPr>
        <p:spPr>
          <a:xfrm>
            <a:off x="4177144" y="365125"/>
            <a:ext cx="7176655" cy="1325563"/>
          </a:xfrm>
        </p:spPr>
        <p:txBody>
          <a:bodyPr/>
          <a:lstStyle/>
          <a:p>
            <a:r>
              <a:rPr lang="ar-EG" b="1" dirty="0"/>
              <a:t>خامسًا: أهم مميزات روبوتات الدردشة</a:t>
            </a:r>
            <a:br>
              <a:rPr lang="ar-EG" b="1" dirty="0"/>
            </a:br>
            <a:endParaRPr lang="ar-EG" dirty="0"/>
          </a:p>
        </p:txBody>
      </p:sp>
      <p:sp>
        <p:nvSpPr>
          <p:cNvPr id="3" name="Content Placeholder 2">
            <a:extLst>
              <a:ext uri="{FF2B5EF4-FFF2-40B4-BE49-F238E27FC236}">
                <a16:creationId xmlns:a16="http://schemas.microsoft.com/office/drawing/2014/main" id="{1340D36A-8AB6-D5E3-3404-7438263C0264}"/>
              </a:ext>
            </a:extLst>
          </p:cNvPr>
          <p:cNvSpPr>
            <a:spLocks noGrp="1"/>
          </p:cNvSpPr>
          <p:nvPr>
            <p:ph idx="1"/>
          </p:nvPr>
        </p:nvSpPr>
        <p:spPr/>
        <p:txBody>
          <a:bodyPr>
            <a:normAutofit fontScale="85000" lnSpcReduction="20000"/>
          </a:bodyPr>
          <a:lstStyle/>
          <a:p>
            <a:r>
              <a:rPr lang="ar-EG" dirty="0"/>
              <a:t>تتميز روبوتات الدردشة بمجموعة من الفوائد التي جعلتها من الأدوات المهمة في العصر الرقمي، ومن أهمها:</a:t>
            </a:r>
          </a:p>
          <a:p>
            <a:pPr lvl="0"/>
            <a:r>
              <a:rPr lang="ar-EG" b="1" dirty="0"/>
              <a:t>السرعة:</a:t>
            </a:r>
            <a:r>
              <a:rPr lang="ar-EG" dirty="0"/>
              <a:t> تقدم إجابات فورية عن كثير من الأسئلة، مما يقلل وقت الانتظار.</a:t>
            </a:r>
          </a:p>
          <a:p>
            <a:pPr lvl="0"/>
            <a:r>
              <a:rPr lang="ar-EG" b="1" dirty="0"/>
              <a:t>التوافر المستمر:</a:t>
            </a:r>
            <a:r>
              <a:rPr lang="ar-EG" dirty="0"/>
              <a:t> تستطيع كثير من الروبوتات تقديم الخدمة على مدار الساعة.</a:t>
            </a:r>
          </a:p>
          <a:p>
            <a:pPr lvl="0"/>
            <a:r>
              <a:rPr lang="ar-EG" b="1" dirty="0"/>
              <a:t>توفير الوقت والجهد:</a:t>
            </a:r>
            <a:r>
              <a:rPr lang="ar-EG" dirty="0"/>
              <a:t> تساعد في إنجاز المهام المتكررة دون الحاجة إلى تنفيذها يدويًا في كل مرة.</a:t>
            </a:r>
          </a:p>
          <a:p>
            <a:pPr lvl="0"/>
            <a:r>
              <a:rPr lang="ar-EG" b="1" dirty="0"/>
              <a:t>سهولة الاستخدام:</a:t>
            </a:r>
            <a:r>
              <a:rPr lang="ar-EG" dirty="0"/>
              <a:t> يمكن التعامل معها من خلال المحادثة بلغة طبيعية بدلًا من البحث في قوائم طويلة.</a:t>
            </a:r>
          </a:p>
          <a:p>
            <a:pPr lvl="0"/>
            <a:r>
              <a:rPr lang="ar-EG" b="1" dirty="0"/>
              <a:t>دعم التعلم:</a:t>
            </a:r>
            <a:r>
              <a:rPr lang="ar-EG" dirty="0"/>
              <a:t> تتيح للطلاب طلب الشرح والتوضيح والأمثلة الإضافية وفقًا لاحتياجاتهم.</a:t>
            </a:r>
          </a:p>
          <a:p>
            <a:pPr lvl="0"/>
            <a:r>
              <a:rPr lang="ar-EG" b="1" dirty="0"/>
              <a:t>تحسين الخدمات:</a:t>
            </a:r>
            <a:r>
              <a:rPr lang="ar-EG" dirty="0"/>
              <a:t> تساعد المؤسسات على التعامل مع عدد كبير من الاستفسارات وتنظيم العمل بصورة أفضل. [1]</a:t>
            </a:r>
          </a:p>
          <a:p>
            <a:r>
              <a:rPr lang="ar-EG" dirty="0"/>
              <a:t>ومثال على ذلك، يمكن لمتجر إلكتروني أن يستخدم روبوت دردشة للرد على مئات الأسئلة المتكررة حول مواعيد التوصيل، مما يتيح لموظفي خدمة العملاء تخصيص وقت أكبر للمشكلات التي تحتاج إلى تدخل بشري.</a:t>
            </a:r>
          </a:p>
          <a:p>
            <a:endParaRPr lang="ar-EG" dirty="0"/>
          </a:p>
        </p:txBody>
      </p:sp>
    </p:spTree>
    <p:extLst>
      <p:ext uri="{BB962C8B-B14F-4D97-AF65-F5344CB8AC3E}">
        <p14:creationId xmlns:p14="http://schemas.microsoft.com/office/powerpoint/2010/main" val="41958640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E20ED3-E175-ECCA-2D86-6690E9F801E9}"/>
              </a:ext>
            </a:extLst>
          </p:cNvPr>
          <p:cNvSpPr>
            <a:spLocks noGrp="1"/>
          </p:cNvSpPr>
          <p:nvPr>
            <p:ph type="title"/>
          </p:nvPr>
        </p:nvSpPr>
        <p:spPr/>
        <p:txBody>
          <a:bodyPr/>
          <a:lstStyle/>
          <a:p>
            <a:r>
              <a:rPr lang="ar-EG" b="1" dirty="0"/>
              <a:t>سادسًا: عيوب روبوتات الدردشة والتحديات التي تواجهها</a:t>
            </a:r>
            <a:br>
              <a:rPr lang="ar-EG" b="1" dirty="0"/>
            </a:br>
            <a:endParaRPr lang="ar-EG" dirty="0"/>
          </a:p>
        </p:txBody>
      </p:sp>
      <p:sp>
        <p:nvSpPr>
          <p:cNvPr id="3" name="Content Placeholder 2">
            <a:extLst>
              <a:ext uri="{FF2B5EF4-FFF2-40B4-BE49-F238E27FC236}">
                <a16:creationId xmlns:a16="http://schemas.microsoft.com/office/drawing/2014/main" id="{CCE0676E-0D33-664D-075F-F50A768BCD3C}"/>
              </a:ext>
            </a:extLst>
          </p:cNvPr>
          <p:cNvSpPr>
            <a:spLocks noGrp="1"/>
          </p:cNvSpPr>
          <p:nvPr>
            <p:ph idx="1"/>
          </p:nvPr>
        </p:nvSpPr>
        <p:spPr/>
        <p:txBody>
          <a:bodyPr>
            <a:noAutofit/>
          </a:bodyPr>
          <a:lstStyle/>
          <a:p>
            <a:r>
              <a:rPr lang="ar-EG" sz="2000" dirty="0"/>
              <a:t>على الرغم من فوائد روبوتات الدردشة، فإن استخدامها لا يخلو من بعض المشكلات، ومن أبرزها:</a:t>
            </a:r>
          </a:p>
          <a:p>
            <a:pPr lvl="0"/>
            <a:r>
              <a:rPr lang="ar-EG" sz="2000" b="1" dirty="0"/>
              <a:t>احتمال تقديم معلومات غير صحيحة:</a:t>
            </a:r>
            <a:r>
              <a:rPr lang="ar-EG" sz="2000" dirty="0"/>
              <a:t> قد يقدم الروبوت إجابة تبدو مقنعة لكنها غير دقيقة، لذلك يجب التحقق من المعلومات المهمة.</a:t>
            </a:r>
          </a:p>
          <a:p>
            <a:pPr lvl="0"/>
            <a:r>
              <a:rPr lang="ar-EG" sz="2000" b="1" dirty="0"/>
              <a:t>ضعف فهم بعض الأسئلة:</a:t>
            </a:r>
            <a:r>
              <a:rPr lang="ar-EG" sz="2000" dirty="0"/>
              <a:t> قد يواجه صعوبة في فهم اللهجات أو التعبيرات الغامضة أو الأسئلة التي تحتاج إلى معرفة دقيقة بالسياق.</a:t>
            </a:r>
          </a:p>
          <a:p>
            <a:pPr lvl="0"/>
            <a:r>
              <a:rPr lang="ar-EG" sz="2000" b="1" dirty="0"/>
              <a:t>مخاطر الخصوصية:</a:t>
            </a:r>
            <a:r>
              <a:rPr lang="ar-EG" sz="2000" dirty="0"/>
              <a:t> قد تتعرض المعلومات الشخصية للخطر إذا أُدخلت في أنظمة غير مناسبة أو لم تُحمَ بطريقة صحيحة.</a:t>
            </a:r>
          </a:p>
          <a:p>
            <a:pPr lvl="0"/>
            <a:r>
              <a:rPr lang="ar-EG" sz="2000" b="1" dirty="0"/>
              <a:t>الحاجة إلى التدخل البشري:</a:t>
            </a:r>
            <a:r>
              <a:rPr lang="ar-EG" sz="2000" dirty="0"/>
              <a:t> توجد مواقف تتطلب التعاطف أو الخبرة أو اتخاذ قرارات معقدة، ولا يكفي فيها الرد الآلي.</a:t>
            </a:r>
          </a:p>
          <a:p>
            <a:pPr lvl="0"/>
            <a:r>
              <a:rPr lang="ar-EG" sz="2000" b="1" dirty="0"/>
              <a:t>الاعتماد الزائد على التكنولوجيا:</a:t>
            </a:r>
            <a:r>
              <a:rPr lang="ar-EG" sz="2000" dirty="0"/>
              <a:t> قد يؤدي الاعتماد الكامل على الروبوتات إلى إضعاف مهارات البحث والتفكير المستقل لدى بعض المستخدمين.</a:t>
            </a:r>
          </a:p>
          <a:p>
            <a:r>
              <a:rPr lang="ar-EG" sz="2000" dirty="0"/>
              <a:t>فعلى سبيل المثال، إذا استخدم طالب روبوت دردشة للحصول على معلومات تاريخية، فمن الأفضل أن يقارن الإجابة بالكتاب المدرسي والمراجع الموثوقة. وإذا استخدمه شخص للحصول على معلومات طبية، فعليه الرجوع إلى طبيب مختص عند الحاجة. وتؤكد أطر إدارة مخاطر الذكاء الاصطناعي أهمية الاهتمام بالدقة والخصوصية والسلامة عند تطوير هذه الأنظمة واستخدامها. [2]</a:t>
            </a:r>
          </a:p>
          <a:p>
            <a:endParaRPr lang="ar-EG" sz="2000" dirty="0"/>
          </a:p>
        </p:txBody>
      </p:sp>
    </p:spTree>
    <p:extLst>
      <p:ext uri="{BB962C8B-B14F-4D97-AF65-F5344CB8AC3E}">
        <p14:creationId xmlns:p14="http://schemas.microsoft.com/office/powerpoint/2010/main" val="14830256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F92FF8-B977-86D6-9381-9C9ED84B48C1}"/>
              </a:ext>
            </a:extLst>
          </p:cNvPr>
          <p:cNvSpPr>
            <a:spLocks noGrp="1"/>
          </p:cNvSpPr>
          <p:nvPr>
            <p:ph type="title"/>
          </p:nvPr>
        </p:nvSpPr>
        <p:spPr/>
        <p:txBody>
          <a:bodyPr>
            <a:normAutofit fontScale="90000"/>
          </a:bodyPr>
          <a:lstStyle/>
          <a:p>
            <a:r>
              <a:rPr lang="ar-EG" b="1" dirty="0"/>
              <a:t>سابعًا: أهم الأفكار المستفادة من موضوع روبوتات الدردشة</a:t>
            </a:r>
            <a:br>
              <a:rPr lang="ar-EG" b="1" dirty="0"/>
            </a:br>
            <a:endParaRPr lang="ar-EG" dirty="0"/>
          </a:p>
        </p:txBody>
      </p:sp>
      <p:sp>
        <p:nvSpPr>
          <p:cNvPr id="3" name="Content Placeholder 2">
            <a:extLst>
              <a:ext uri="{FF2B5EF4-FFF2-40B4-BE49-F238E27FC236}">
                <a16:creationId xmlns:a16="http://schemas.microsoft.com/office/drawing/2014/main" id="{6E959A32-E3C2-7D16-0C6C-72170DAACD67}"/>
              </a:ext>
            </a:extLst>
          </p:cNvPr>
          <p:cNvSpPr>
            <a:spLocks noGrp="1"/>
          </p:cNvSpPr>
          <p:nvPr>
            <p:ph idx="1"/>
          </p:nvPr>
        </p:nvSpPr>
        <p:spPr/>
        <p:txBody>
          <a:bodyPr>
            <a:normAutofit fontScale="77500" lnSpcReduction="20000"/>
          </a:bodyPr>
          <a:lstStyle/>
          <a:p>
            <a:r>
              <a:rPr lang="ar-EG" dirty="0"/>
              <a:t>يمكن تلخيص أهم الأفكار التي يتناولها البحث فيما يأتي:</a:t>
            </a:r>
          </a:p>
          <a:p>
            <a:pPr lvl="0"/>
            <a:r>
              <a:rPr lang="ar-EG" dirty="0"/>
              <a:t>روبوتات الدردشة وسيلة حديثة للتواصل بين الإنسان والحاسوب باستخدام النصوص أو الصوت.</a:t>
            </a:r>
          </a:p>
          <a:p>
            <a:pPr lvl="0"/>
            <a:r>
              <a:rPr lang="ar-EG" dirty="0"/>
              <a:t>تختلف الروبوتات التقليدية التي تعتمد على قواعد محددة عن الروبوتات الحديثة التي تستخدم الذكاء الاصطناعي.</a:t>
            </a:r>
          </a:p>
          <a:p>
            <a:pPr lvl="0"/>
            <a:r>
              <a:rPr lang="ar-EG" dirty="0"/>
              <a:t>تتعدد استخداماتها لتشمل التعليم والصحة والتجارة وخدمة العملاء والأعمال.</a:t>
            </a:r>
          </a:p>
          <a:p>
            <a:pPr lvl="0"/>
            <a:r>
              <a:rPr lang="ar-EG" dirty="0"/>
              <a:t>تساعد على توفير الوقت وتحسين سرعة الوصول إلى المعلومات.</a:t>
            </a:r>
          </a:p>
          <a:p>
            <a:pPr lvl="0"/>
            <a:r>
              <a:rPr lang="ar-EG" dirty="0"/>
              <a:t>لا تعني الإجابة السريعة بالضرورة أن المعلومة صحيحة؛ لذلك يجب التحقق من المعلومات المهمة.</a:t>
            </a:r>
          </a:p>
          <a:p>
            <a:pPr lvl="0"/>
            <a:r>
              <a:rPr lang="ar-EG" dirty="0"/>
              <a:t>حماية البيانات الشخصية مسؤولية أساسية عند استخدام هذه التقنيات.</a:t>
            </a:r>
          </a:p>
          <a:p>
            <a:pPr lvl="0"/>
            <a:r>
              <a:rPr lang="ar-EG" dirty="0"/>
              <a:t>الاستخدام الأفضل لروبوتات الدردشة هو الاستفادة منها بوصفها أداة مساعدة، مع الاحتفاظ بدور الإنسان في التقييم واتخاذ القرارات.</a:t>
            </a:r>
          </a:p>
          <a:p>
            <a:r>
              <a:rPr lang="ar-EG" dirty="0"/>
              <a:t>ومن الأمثلة التي تجمع هذه الأفكار استخدام طالب لروبوت دردشة في إعداد بحث مدرسي؛ إذ يمكنه الاستعانة به لاقتراح خطة للبحث وتبسيط المفاهيم وتقديم أمثلة، ثم مراجعة المعلومات من مصادر موثوقة وإعادة صياغتها بأسلوبه الخاص. وبهذه الطريقة يستفيد من التكنولوجيا دون أن يتخلى عن مسؤوليته في التعلم والتحقق من المعلومات.</a:t>
            </a:r>
          </a:p>
          <a:p>
            <a:endParaRPr lang="ar-EG" dirty="0"/>
          </a:p>
        </p:txBody>
      </p:sp>
    </p:spTree>
    <p:extLst>
      <p:ext uri="{BB962C8B-B14F-4D97-AF65-F5344CB8AC3E}">
        <p14:creationId xmlns:p14="http://schemas.microsoft.com/office/powerpoint/2010/main" val="8056878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D026B91-BEA2-6BAD-4552-873A3E51ACAC}"/>
              </a:ext>
            </a:extLst>
          </p:cNvPr>
          <p:cNvSpPr>
            <a:spLocks noGrp="1"/>
          </p:cNvSpPr>
          <p:nvPr>
            <p:ph idx="1"/>
          </p:nvPr>
        </p:nvSpPr>
        <p:spPr>
          <a:xfrm>
            <a:off x="838200" y="685800"/>
            <a:ext cx="10515600" cy="5491163"/>
          </a:xfrm>
        </p:spPr>
        <p:txBody>
          <a:bodyPr>
            <a:normAutofit fontScale="77500" lnSpcReduction="20000"/>
          </a:bodyPr>
          <a:lstStyle/>
          <a:p>
            <a:r>
              <a:rPr lang="ar-EG" b="1" dirty="0"/>
              <a:t>الخاتمة</a:t>
            </a:r>
          </a:p>
          <a:p>
            <a:r>
              <a:rPr lang="ar-EG" dirty="0"/>
              <a:t>في الختام، أصبحت روبوتات الدردشة من التطبيقات المهمة للتطور التكنولوجي والذكاء الاصطناعي، لما تقدمه من خدمات في مجالات متعددة، مثل التعليم والتجارة والرعاية الصحية وخدمة العملاء. وقد ساعدت هذه التقنية على تسهيل التواصل مع الأنظمة الرقمية وتوفير الوقت والجهد وتحسين الوصول إلى المعلومات.</a:t>
            </a:r>
          </a:p>
          <a:p>
            <a:r>
              <a:rPr lang="ar-EG" dirty="0"/>
              <a:t>ومع ذلك، فإن نجاح استخدامها يعتمد على الوعي بمميزاتها وحدودها، والتحقق من صحة المعلومات التي تقدمها، والمحافظة على خصوصية المستخدمين. ومن المتوقع أن يستمر تطور روبوتات الدردشة في المستقبل، وأن تتوسع مجالات استخدامها مع تحسين قدرتها على فهم اللغة وإنجاز المهام. ولذلك ينبغي الاستفادة من هذه التقنية بصورة مسؤولة ومتوازنة، بحيث تكون وسيلة لدعم الإنسان وتطوير قدراته، لا بديلًا عن التفكير النقدي والخبرة البشرية.</a:t>
            </a:r>
          </a:p>
          <a:p>
            <a:r>
              <a:rPr lang="ar-EG" b="1" dirty="0"/>
              <a:t>المراجع</a:t>
            </a:r>
          </a:p>
          <a:p>
            <a:pPr lvl="0"/>
            <a:r>
              <a:rPr lang="ar-EG" dirty="0"/>
              <a:t>IBM، </a:t>
            </a:r>
            <a:r>
              <a:rPr lang="ar-EG" b="1" dirty="0"/>
              <a:t>What Is a Chatbot?</a:t>
            </a:r>
            <a:r>
              <a:rPr lang="ar-EG" dirty="0"/>
              <a:t>، شرح مفهوم روبوتات الدردشة وأنواعها واستخداماتها.</a:t>
            </a:r>
            <a:br>
              <a:rPr lang="ar-EG" dirty="0"/>
            </a:br>
            <a:r>
              <a:rPr lang="ar-EG" dirty="0">
                <a:hlinkClick r:id="rId2"/>
              </a:rPr>
              <a:t>https://www.ibm.com/think/topics/chatbots</a:t>
            </a:r>
            <a:endParaRPr lang="ar-EG" dirty="0"/>
          </a:p>
          <a:p>
            <a:pPr lvl="0"/>
            <a:r>
              <a:rPr lang="ar-EG" dirty="0"/>
              <a:t>المعهد الوطني الأمريكي للمعايير والتكنولوجيا (NIST)، </a:t>
            </a:r>
            <a:r>
              <a:rPr lang="ar-EG" b="1" dirty="0"/>
              <a:t>Artificial Intelligence Risk Management Framework</a:t>
            </a:r>
            <a:r>
              <a:rPr lang="ar-EG" dirty="0"/>
              <a:t>، إطار إدارة مخاطر الذكاء الاصطناعي.</a:t>
            </a:r>
            <a:br>
              <a:rPr lang="ar-EG" dirty="0"/>
            </a:br>
            <a:r>
              <a:rPr lang="ar-EG" dirty="0">
                <a:hlinkClick r:id="rId3"/>
              </a:rPr>
              <a:t>https://www.nist.gov/itl/ai-risk-management-framework</a:t>
            </a:r>
            <a:endParaRPr lang="ar-EG" dirty="0"/>
          </a:p>
          <a:p>
            <a:pPr lvl="0"/>
            <a:r>
              <a:rPr lang="ar-EG" dirty="0"/>
              <a:t>IBM، </a:t>
            </a:r>
            <a:r>
              <a:rPr lang="ar-EG" b="1" dirty="0"/>
              <a:t>Chatbot Use Cases and Examples</a:t>
            </a:r>
            <a:r>
              <a:rPr lang="ar-EG" dirty="0"/>
              <a:t>، أمثلة على استخدام روبوتات الدردشة في المؤسسات والخدمات.</a:t>
            </a:r>
            <a:br>
              <a:rPr lang="ar-EG" dirty="0"/>
            </a:br>
            <a:r>
              <a:rPr lang="ar-EG" dirty="0"/>
              <a:t>https://www.ibm.com/think/topics/chatbot-use-cases</a:t>
            </a:r>
          </a:p>
          <a:p>
            <a:endParaRPr lang="ar-EG" dirty="0"/>
          </a:p>
        </p:txBody>
      </p:sp>
    </p:spTree>
    <p:extLst>
      <p:ext uri="{BB962C8B-B14F-4D97-AF65-F5344CB8AC3E}">
        <p14:creationId xmlns:p14="http://schemas.microsoft.com/office/powerpoint/2010/main" val="230860790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TotalTime>
  <Words>1596</Words>
  <Application>Microsoft Office PowerPoint</Application>
  <PresentationFormat>Widescreen</PresentationFormat>
  <Paragraphs>71</Paragraphs>
  <Slides>10</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Aptos</vt:lpstr>
      <vt:lpstr>Aptos Display</vt:lpstr>
      <vt:lpstr>Arial</vt:lpstr>
      <vt:lpstr>Office Theme</vt:lpstr>
      <vt:lpstr> عنوان البحث : </vt:lpstr>
      <vt:lpstr>المقدمه </vt:lpstr>
      <vt:lpstr>أولًا: مفهوم روبوتات الدردشة </vt:lpstr>
      <vt:lpstr>ثانيًا: كيف تعمل روبوتات الدردشة؟ </vt:lpstr>
      <vt:lpstr>ثالثًا: أنواع روبوتات الدردشة </vt:lpstr>
      <vt:lpstr>رابعًا: أهم استخدامات روبوتات الدردشة </vt:lpstr>
      <vt:lpstr>خامسًا: أهم مميزات روبوتات الدردشة </vt:lpstr>
      <vt:lpstr>سادسًا: عيوب روبوتات الدردشة والتحديات التي تواجهها </vt:lpstr>
      <vt:lpstr>سابعًا: أهم الأفكار المستفادة من موضوع روبوتات الدردشة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Admin</dc:creator>
  <cp:lastModifiedBy>محمد الحناوي</cp:lastModifiedBy>
  <cp:revision>2</cp:revision>
  <dcterms:created xsi:type="dcterms:W3CDTF">2026-10-16T17:23:28Z</dcterms:created>
  <dcterms:modified xsi:type="dcterms:W3CDTF">2026-10-17T13:32:16Z</dcterms:modified>
</cp:coreProperties>
</file>